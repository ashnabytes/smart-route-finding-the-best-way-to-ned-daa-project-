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Montserrat" charset="1" panose="00000500000000000000"/>
      <p:regular r:id="rId31"/>
    </p:embeddedFont>
    <p:embeddedFont>
      <p:font typeface="Mokoto"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VAGmfqNoGfY.mp4" Type="http://schemas.openxmlformats.org/officeDocument/2006/relationships/video"/><Relationship Id="rId4" Target="../media/VAGmfqNoGfY.mp4" Type="http://schemas.microsoft.com/office/2007/relationships/media"/></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8.png" Type="http://schemas.openxmlformats.org/officeDocument/2006/relationships/image"/><Relationship Id="rId4" Target="../media/image11.png" Type="http://schemas.openxmlformats.org/officeDocument/2006/relationships/image"/><Relationship Id="rId5" Target="../media/image14.png" Type="http://schemas.openxmlformats.org/officeDocument/2006/relationships/image"/><Relationship Id="rId6" Target="../media/image1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4.png" Type="http://schemas.openxmlformats.org/officeDocument/2006/relationships/image"/><Relationship Id="rId12" Target="../media/image12.png" Type="http://schemas.openxmlformats.org/officeDocument/2006/relationships/imag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8.png" Type="http://schemas.openxmlformats.org/officeDocument/2006/relationships/image"/><Relationship Id="rId9"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0" y="268522"/>
            <a:ext cx="18288000" cy="10018478"/>
          </a:xfrm>
          <a:custGeom>
            <a:avLst/>
            <a:gdLst/>
            <a:ahLst/>
            <a:cxnLst/>
            <a:rect r="r" b="b" t="t" l="l"/>
            <a:pathLst>
              <a:path h="10018478" w="18288000">
                <a:moveTo>
                  <a:pt x="0" y="0"/>
                </a:moveTo>
                <a:lnTo>
                  <a:pt x="18288000" y="0"/>
                </a:lnTo>
                <a:lnTo>
                  <a:pt x="18288000" y="10018478"/>
                </a:lnTo>
                <a:lnTo>
                  <a:pt x="0" y="10018478"/>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9" r="0" b="-9"/>
            </a:stretch>
          </a:blipFill>
        </p:spPr>
      </p:sp>
      <p:grpSp>
        <p:nvGrpSpPr>
          <p:cNvPr name="Group 3" id="3"/>
          <p:cNvGrpSpPr/>
          <p:nvPr/>
        </p:nvGrpSpPr>
        <p:grpSpPr>
          <a:xfrm rot="5400000">
            <a:off x="15383368" y="7382385"/>
            <a:ext cx="2977220" cy="2832043"/>
            <a:chOff x="0" y="0"/>
            <a:chExt cx="5182870" cy="4930140"/>
          </a:xfrm>
        </p:grpSpPr>
        <p:sp>
          <p:nvSpPr>
            <p:cNvPr name="Freeform 4" id="4"/>
            <p:cNvSpPr/>
            <p:nvPr/>
          </p:nvSpPr>
          <p:spPr>
            <a:xfrm flipH="false" flipV="false" rot="0">
              <a:off x="0" y="0"/>
              <a:ext cx="5182870" cy="4930140"/>
            </a:xfrm>
            <a:custGeom>
              <a:avLst/>
              <a:gdLst/>
              <a:ahLst/>
              <a:cxnLst/>
              <a:rect r="r" b="b" t="t" l="l"/>
              <a:pathLst>
                <a:path h="4930140" w="5182870">
                  <a:moveTo>
                    <a:pt x="0" y="0"/>
                  </a:moveTo>
                  <a:lnTo>
                    <a:pt x="5182870" y="0"/>
                  </a:lnTo>
                  <a:lnTo>
                    <a:pt x="5182870" y="4930140"/>
                  </a:lnTo>
                  <a:lnTo>
                    <a:pt x="0" y="4930140"/>
                  </a:lnTo>
                  <a:lnTo>
                    <a:pt x="0" y="0"/>
                  </a:lnTo>
                  <a:close/>
                </a:path>
              </a:pathLst>
            </a:custGeom>
            <a:blipFill>
              <a:blip r:embed="rId4"/>
              <a:stretch>
                <a:fillRect l="0" t="-113" r="0" b="-113"/>
              </a:stretch>
            </a:blipFill>
          </p:spPr>
        </p:sp>
      </p:grpSp>
      <p:grpSp>
        <p:nvGrpSpPr>
          <p:cNvPr name="Group 5" id="5"/>
          <p:cNvGrpSpPr/>
          <p:nvPr/>
        </p:nvGrpSpPr>
        <p:grpSpPr>
          <a:xfrm rot="-6134898">
            <a:off x="15285756" y="-190865"/>
            <a:ext cx="2607812" cy="2909664"/>
            <a:chOff x="0" y="0"/>
            <a:chExt cx="4636770" cy="5173472"/>
          </a:xfrm>
        </p:grpSpPr>
        <p:sp>
          <p:nvSpPr>
            <p:cNvPr name="Freeform 6" id="6"/>
            <p:cNvSpPr/>
            <p:nvPr/>
          </p:nvSpPr>
          <p:spPr>
            <a:xfrm flipH="false" flipV="false" rot="0">
              <a:off x="0" y="0"/>
              <a:ext cx="4636770" cy="5173472"/>
            </a:xfrm>
            <a:custGeom>
              <a:avLst/>
              <a:gdLst/>
              <a:ahLst/>
              <a:cxnLst/>
              <a:rect r="r" b="b" t="t" l="l"/>
              <a:pathLst>
                <a:path h="5173472" w="4636770">
                  <a:moveTo>
                    <a:pt x="0" y="0"/>
                  </a:moveTo>
                  <a:lnTo>
                    <a:pt x="4636770" y="0"/>
                  </a:lnTo>
                  <a:lnTo>
                    <a:pt x="4636770" y="5173472"/>
                  </a:lnTo>
                  <a:lnTo>
                    <a:pt x="0" y="5173472"/>
                  </a:lnTo>
                  <a:lnTo>
                    <a:pt x="0" y="0"/>
                  </a:lnTo>
                  <a:close/>
                </a:path>
              </a:pathLst>
            </a:custGeom>
            <a:blipFill>
              <a:blip r:embed="rId5"/>
              <a:stretch>
                <a:fillRect l="-16" t="0" r="-16" b="0"/>
              </a:stretch>
            </a:blipFill>
          </p:spPr>
        </p:sp>
      </p:grpSp>
      <p:grpSp>
        <p:nvGrpSpPr>
          <p:cNvPr name="Group 7" id="7"/>
          <p:cNvGrpSpPr/>
          <p:nvPr/>
        </p:nvGrpSpPr>
        <p:grpSpPr>
          <a:xfrm rot="1079263">
            <a:off x="385929" y="-74724"/>
            <a:ext cx="2388784" cy="2475400"/>
            <a:chOff x="0" y="0"/>
            <a:chExt cx="4308094" cy="4464304"/>
          </a:xfrm>
        </p:grpSpPr>
        <p:sp>
          <p:nvSpPr>
            <p:cNvPr name="Freeform 8" id="8"/>
            <p:cNvSpPr/>
            <p:nvPr/>
          </p:nvSpPr>
          <p:spPr>
            <a:xfrm flipH="false" flipV="false" rot="0">
              <a:off x="0" y="0"/>
              <a:ext cx="4308094" cy="4464304"/>
            </a:xfrm>
            <a:custGeom>
              <a:avLst/>
              <a:gdLst/>
              <a:ahLst/>
              <a:cxnLst/>
              <a:rect r="r" b="b" t="t" l="l"/>
              <a:pathLst>
                <a:path h="4464304" w="4308094">
                  <a:moveTo>
                    <a:pt x="0" y="0"/>
                  </a:moveTo>
                  <a:lnTo>
                    <a:pt x="4308094" y="0"/>
                  </a:lnTo>
                  <a:lnTo>
                    <a:pt x="4308094" y="4464304"/>
                  </a:lnTo>
                  <a:lnTo>
                    <a:pt x="0" y="4464304"/>
                  </a:lnTo>
                  <a:lnTo>
                    <a:pt x="0" y="0"/>
                  </a:lnTo>
                  <a:close/>
                </a:path>
              </a:pathLst>
            </a:custGeom>
            <a:blipFill>
              <a:blip r:embed="rId6"/>
              <a:stretch>
                <a:fillRect l="-38" t="0" r="-38" b="0"/>
              </a:stretch>
            </a:blipFill>
          </p:spPr>
        </p:sp>
      </p:grpSp>
      <p:grpSp>
        <p:nvGrpSpPr>
          <p:cNvPr name="Group 9" id="9"/>
          <p:cNvGrpSpPr/>
          <p:nvPr/>
        </p:nvGrpSpPr>
        <p:grpSpPr>
          <a:xfrm rot="1392916">
            <a:off x="2588229" y="6260718"/>
            <a:ext cx="1158145" cy="1295876"/>
            <a:chOff x="0" y="0"/>
            <a:chExt cx="1544193" cy="1727835"/>
          </a:xfrm>
        </p:grpSpPr>
        <p:sp>
          <p:nvSpPr>
            <p:cNvPr name="Freeform 10" id="10"/>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7"/>
              <a:stretch>
                <a:fillRect l="0" t="-202" r="0" b="-202"/>
              </a:stretch>
            </a:blipFill>
          </p:spPr>
        </p:sp>
      </p:grpSp>
      <p:grpSp>
        <p:nvGrpSpPr>
          <p:cNvPr name="Group 11" id="11"/>
          <p:cNvGrpSpPr/>
          <p:nvPr/>
        </p:nvGrpSpPr>
        <p:grpSpPr>
          <a:xfrm rot="-1600701">
            <a:off x="14132652" y="1694279"/>
            <a:ext cx="1207484" cy="1277779"/>
            <a:chOff x="0" y="0"/>
            <a:chExt cx="1609979" cy="1703705"/>
          </a:xfrm>
        </p:grpSpPr>
        <p:sp>
          <p:nvSpPr>
            <p:cNvPr name="Freeform 12" id="12"/>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8"/>
              <a:stretch>
                <a:fillRect l="-169" t="0" r="-169" b="0"/>
              </a:stretch>
            </a:blipFill>
          </p:spPr>
        </p:sp>
      </p:grpSp>
      <p:grpSp>
        <p:nvGrpSpPr>
          <p:cNvPr name="Group 13" id="13"/>
          <p:cNvGrpSpPr/>
          <p:nvPr/>
        </p:nvGrpSpPr>
        <p:grpSpPr>
          <a:xfrm rot="1558470">
            <a:off x="13960688" y="7230700"/>
            <a:ext cx="1129284" cy="1199769"/>
            <a:chOff x="0" y="0"/>
            <a:chExt cx="1505712" cy="1599692"/>
          </a:xfrm>
        </p:grpSpPr>
        <p:sp>
          <p:nvSpPr>
            <p:cNvPr name="Freeform 14" id="14"/>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9"/>
              <a:stretch>
                <a:fillRect l="0" t="-89" r="0" b="-89"/>
              </a:stretch>
            </a:blipFill>
          </p:spPr>
        </p:sp>
      </p:grpSp>
      <p:grpSp>
        <p:nvGrpSpPr>
          <p:cNvPr name="Group 15" id="15"/>
          <p:cNvGrpSpPr/>
          <p:nvPr/>
        </p:nvGrpSpPr>
        <p:grpSpPr>
          <a:xfrm rot="0">
            <a:off x="3954895" y="1746443"/>
            <a:ext cx="1063897" cy="1100391"/>
            <a:chOff x="0" y="0"/>
            <a:chExt cx="1747520" cy="1807464"/>
          </a:xfrm>
        </p:grpSpPr>
        <p:sp>
          <p:nvSpPr>
            <p:cNvPr name="Freeform 16" id="16"/>
            <p:cNvSpPr/>
            <p:nvPr/>
          </p:nvSpPr>
          <p:spPr>
            <a:xfrm flipH="false" flipV="false" rot="0">
              <a:off x="0" y="0"/>
              <a:ext cx="1747520" cy="1807464"/>
            </a:xfrm>
            <a:custGeom>
              <a:avLst/>
              <a:gdLst/>
              <a:ahLst/>
              <a:cxnLst/>
              <a:rect r="r" b="b" t="t" l="l"/>
              <a:pathLst>
                <a:path h="1807464" w="1747520">
                  <a:moveTo>
                    <a:pt x="0" y="0"/>
                  </a:moveTo>
                  <a:lnTo>
                    <a:pt x="1747520" y="0"/>
                  </a:lnTo>
                  <a:lnTo>
                    <a:pt x="1747520" y="1807464"/>
                  </a:lnTo>
                  <a:lnTo>
                    <a:pt x="0" y="1807464"/>
                  </a:lnTo>
                  <a:lnTo>
                    <a:pt x="0" y="0"/>
                  </a:lnTo>
                  <a:close/>
                </a:path>
              </a:pathLst>
            </a:custGeom>
            <a:blipFill>
              <a:blip r:embed="rId10"/>
              <a:stretch>
                <a:fillRect l="-402" t="0" r="-402" b="0"/>
              </a:stretch>
            </a:blipFill>
          </p:spPr>
        </p:sp>
      </p:grpSp>
      <p:grpSp>
        <p:nvGrpSpPr>
          <p:cNvPr name="Group 17" id="17"/>
          <p:cNvGrpSpPr/>
          <p:nvPr/>
        </p:nvGrpSpPr>
        <p:grpSpPr>
          <a:xfrm rot="5400000">
            <a:off x="-328282" y="7506690"/>
            <a:ext cx="3170699" cy="2389956"/>
            <a:chOff x="0" y="0"/>
            <a:chExt cx="5602732" cy="4223131"/>
          </a:xfrm>
        </p:grpSpPr>
        <p:sp>
          <p:nvSpPr>
            <p:cNvPr name="Freeform 18" id="18"/>
            <p:cNvSpPr/>
            <p:nvPr/>
          </p:nvSpPr>
          <p:spPr>
            <a:xfrm flipH="false" flipV="false" rot="0">
              <a:off x="0" y="0"/>
              <a:ext cx="5602732" cy="4223131"/>
            </a:xfrm>
            <a:custGeom>
              <a:avLst/>
              <a:gdLst/>
              <a:ahLst/>
              <a:cxnLst/>
              <a:rect r="r" b="b" t="t" l="l"/>
              <a:pathLst>
                <a:path h="4223131" w="5602732">
                  <a:moveTo>
                    <a:pt x="0" y="0"/>
                  </a:moveTo>
                  <a:lnTo>
                    <a:pt x="5602732" y="0"/>
                  </a:lnTo>
                  <a:lnTo>
                    <a:pt x="5602732" y="4223131"/>
                  </a:lnTo>
                  <a:lnTo>
                    <a:pt x="0" y="4223131"/>
                  </a:lnTo>
                  <a:lnTo>
                    <a:pt x="0" y="0"/>
                  </a:lnTo>
                  <a:close/>
                </a:path>
              </a:pathLst>
            </a:custGeom>
            <a:blipFill>
              <a:blip r:embed="rId11"/>
              <a:stretch>
                <a:fillRect l="0" t="-28" r="0" b="-28"/>
              </a:stretch>
            </a:blipFill>
          </p:spPr>
        </p:sp>
      </p:grpSp>
      <p:grpSp>
        <p:nvGrpSpPr>
          <p:cNvPr name="Group 19" id="19"/>
          <p:cNvGrpSpPr/>
          <p:nvPr/>
        </p:nvGrpSpPr>
        <p:grpSpPr>
          <a:xfrm rot="0">
            <a:off x="3593136" y="4010986"/>
            <a:ext cx="10932197" cy="1814414"/>
            <a:chOff x="0" y="0"/>
            <a:chExt cx="14576263" cy="2419218"/>
          </a:xfrm>
        </p:grpSpPr>
        <p:sp>
          <p:nvSpPr>
            <p:cNvPr name="Freeform 20" id="20"/>
            <p:cNvSpPr/>
            <p:nvPr/>
          </p:nvSpPr>
          <p:spPr>
            <a:xfrm flipH="false" flipV="false" rot="0">
              <a:off x="0" y="0"/>
              <a:ext cx="14576262" cy="2419218"/>
            </a:xfrm>
            <a:custGeom>
              <a:avLst/>
              <a:gdLst/>
              <a:ahLst/>
              <a:cxnLst/>
              <a:rect r="r" b="b" t="t" l="l"/>
              <a:pathLst>
                <a:path h="2419218" w="14576262">
                  <a:moveTo>
                    <a:pt x="0" y="0"/>
                  </a:moveTo>
                  <a:lnTo>
                    <a:pt x="14576262" y="0"/>
                  </a:lnTo>
                  <a:lnTo>
                    <a:pt x="14576262" y="2419218"/>
                  </a:lnTo>
                  <a:lnTo>
                    <a:pt x="0" y="2419218"/>
                  </a:lnTo>
                  <a:close/>
                </a:path>
              </a:pathLst>
            </a:custGeom>
            <a:solidFill>
              <a:srgbClr val="000000">
                <a:alpha val="0"/>
              </a:srgbClr>
            </a:solidFill>
          </p:spPr>
        </p:sp>
        <p:sp>
          <p:nvSpPr>
            <p:cNvPr name="TextBox 21" id="21"/>
            <p:cNvSpPr txBox="true"/>
            <p:nvPr/>
          </p:nvSpPr>
          <p:spPr>
            <a:xfrm>
              <a:off x="0" y="-95250"/>
              <a:ext cx="14576263" cy="2514468"/>
            </a:xfrm>
            <a:prstGeom prst="rect">
              <a:avLst/>
            </a:prstGeom>
          </p:spPr>
          <p:txBody>
            <a:bodyPr anchor="t" rtlCol="false" tIns="0" lIns="0" bIns="0" rIns="0"/>
            <a:lstStyle/>
            <a:p>
              <a:pPr algn="ctr">
                <a:lnSpc>
                  <a:spcPts val="7008"/>
                </a:lnSpc>
              </a:pPr>
              <a:r>
                <a:rPr lang="en-US" sz="5006" spc="1351">
                  <a:solidFill>
                    <a:srgbClr val="FFFFFF"/>
                  </a:solidFill>
                  <a:latin typeface="Montserrat"/>
                  <a:ea typeface="Montserrat"/>
                  <a:cs typeface="Montserrat"/>
                  <a:sym typeface="Montserrat"/>
                </a:rPr>
                <a:t>FINDING THE BEST WAY TO NED</a:t>
              </a:r>
            </a:p>
          </p:txBody>
        </p:sp>
      </p:grpSp>
      <p:grpSp>
        <p:nvGrpSpPr>
          <p:cNvPr name="Group 22" id="22"/>
          <p:cNvGrpSpPr/>
          <p:nvPr/>
        </p:nvGrpSpPr>
        <p:grpSpPr>
          <a:xfrm rot="0">
            <a:off x="2881071" y="3036208"/>
            <a:ext cx="12356328" cy="884289"/>
            <a:chOff x="0" y="0"/>
            <a:chExt cx="16475104" cy="1179052"/>
          </a:xfrm>
        </p:grpSpPr>
        <p:sp>
          <p:nvSpPr>
            <p:cNvPr name="Freeform 23" id="23"/>
            <p:cNvSpPr/>
            <p:nvPr/>
          </p:nvSpPr>
          <p:spPr>
            <a:xfrm flipH="false" flipV="false" rot="0">
              <a:off x="0" y="0"/>
              <a:ext cx="16475104" cy="1179052"/>
            </a:xfrm>
            <a:custGeom>
              <a:avLst/>
              <a:gdLst/>
              <a:ahLst/>
              <a:cxnLst/>
              <a:rect r="r" b="b" t="t" l="l"/>
              <a:pathLst>
                <a:path h="1179052" w="16475104">
                  <a:moveTo>
                    <a:pt x="0" y="0"/>
                  </a:moveTo>
                  <a:lnTo>
                    <a:pt x="16475104" y="0"/>
                  </a:lnTo>
                  <a:lnTo>
                    <a:pt x="16475104" y="1179052"/>
                  </a:lnTo>
                  <a:lnTo>
                    <a:pt x="0" y="1179052"/>
                  </a:lnTo>
                  <a:close/>
                </a:path>
              </a:pathLst>
            </a:custGeom>
            <a:solidFill>
              <a:srgbClr val="000000">
                <a:alpha val="0"/>
              </a:srgbClr>
            </a:solidFill>
          </p:spPr>
        </p:sp>
        <p:sp>
          <p:nvSpPr>
            <p:cNvPr name="TextBox 24" id="24"/>
            <p:cNvSpPr txBox="true"/>
            <p:nvPr/>
          </p:nvSpPr>
          <p:spPr>
            <a:xfrm>
              <a:off x="0" y="-38100"/>
              <a:ext cx="16475104" cy="1217152"/>
            </a:xfrm>
            <a:prstGeom prst="rect">
              <a:avLst/>
            </a:prstGeom>
          </p:spPr>
          <p:txBody>
            <a:bodyPr anchor="t" rtlCol="false" tIns="0" lIns="0" bIns="0" rIns="0"/>
            <a:lstStyle/>
            <a:p>
              <a:pPr algn="ctr">
                <a:lnSpc>
                  <a:spcPts val="6733"/>
                </a:lnSpc>
              </a:pPr>
              <a:r>
                <a:rPr lang="en-US" sz="5395">
                  <a:solidFill>
                    <a:srgbClr val="FFFFFF"/>
                  </a:solidFill>
                  <a:latin typeface="Mokoto"/>
                  <a:ea typeface="Mokoto"/>
                  <a:cs typeface="Mokoto"/>
                  <a:sym typeface="Mokoto"/>
                </a:rPr>
                <a:t>SMART ROUTE</a:t>
              </a:r>
            </a:p>
          </p:txBody>
        </p:sp>
      </p:grpSp>
      <p:grpSp>
        <p:nvGrpSpPr>
          <p:cNvPr name="Group 25" id="25"/>
          <p:cNvGrpSpPr/>
          <p:nvPr/>
        </p:nvGrpSpPr>
        <p:grpSpPr>
          <a:xfrm rot="0">
            <a:off x="5468096" y="811054"/>
            <a:ext cx="7832824" cy="351949"/>
            <a:chOff x="0" y="0"/>
            <a:chExt cx="10443765" cy="469265"/>
          </a:xfrm>
        </p:grpSpPr>
        <p:sp>
          <p:nvSpPr>
            <p:cNvPr name="Freeform 26" id="26"/>
            <p:cNvSpPr/>
            <p:nvPr/>
          </p:nvSpPr>
          <p:spPr>
            <a:xfrm flipH="false" flipV="false" rot="0">
              <a:off x="0" y="0"/>
              <a:ext cx="10443766" cy="469265"/>
            </a:xfrm>
            <a:custGeom>
              <a:avLst/>
              <a:gdLst/>
              <a:ahLst/>
              <a:cxnLst/>
              <a:rect r="r" b="b" t="t" l="l"/>
              <a:pathLst>
                <a:path h="469265" w="10443766">
                  <a:moveTo>
                    <a:pt x="0" y="0"/>
                  </a:moveTo>
                  <a:lnTo>
                    <a:pt x="10443766" y="0"/>
                  </a:lnTo>
                  <a:lnTo>
                    <a:pt x="10443766" y="469265"/>
                  </a:lnTo>
                  <a:lnTo>
                    <a:pt x="0" y="469265"/>
                  </a:lnTo>
                  <a:close/>
                </a:path>
              </a:pathLst>
            </a:custGeom>
            <a:solidFill>
              <a:srgbClr val="000000">
                <a:alpha val="0"/>
              </a:srgbClr>
            </a:solidFill>
          </p:spPr>
        </p:sp>
        <p:sp>
          <p:nvSpPr>
            <p:cNvPr name="TextBox 27" id="27"/>
            <p:cNvSpPr txBox="true"/>
            <p:nvPr/>
          </p:nvSpPr>
          <p:spPr>
            <a:xfrm>
              <a:off x="0" y="-47625"/>
              <a:ext cx="10443765"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NED UNIVERSITY OF ENGINEERING &amp; TECHNOLOGY</a:t>
              </a:r>
            </a:p>
          </p:txBody>
        </p:sp>
      </p:grpSp>
      <p:grpSp>
        <p:nvGrpSpPr>
          <p:cNvPr name="Group 28" id="28"/>
          <p:cNvGrpSpPr/>
          <p:nvPr/>
        </p:nvGrpSpPr>
        <p:grpSpPr>
          <a:xfrm rot="0">
            <a:off x="7064540" y="6671245"/>
            <a:ext cx="3989388" cy="474821"/>
            <a:chOff x="0" y="0"/>
            <a:chExt cx="5319184" cy="633095"/>
          </a:xfrm>
        </p:grpSpPr>
        <p:sp>
          <p:nvSpPr>
            <p:cNvPr name="Freeform 29" id="29"/>
            <p:cNvSpPr/>
            <p:nvPr/>
          </p:nvSpPr>
          <p:spPr>
            <a:xfrm flipH="false" flipV="false" rot="0">
              <a:off x="0" y="0"/>
              <a:ext cx="5319184" cy="633095"/>
            </a:xfrm>
            <a:custGeom>
              <a:avLst/>
              <a:gdLst/>
              <a:ahLst/>
              <a:cxnLst/>
              <a:rect r="r" b="b" t="t" l="l"/>
              <a:pathLst>
                <a:path h="633095" w="5319184">
                  <a:moveTo>
                    <a:pt x="0" y="0"/>
                  </a:moveTo>
                  <a:lnTo>
                    <a:pt x="5319184" y="0"/>
                  </a:lnTo>
                  <a:lnTo>
                    <a:pt x="5319184" y="633095"/>
                  </a:lnTo>
                  <a:lnTo>
                    <a:pt x="0" y="633095"/>
                  </a:lnTo>
                  <a:close/>
                </a:path>
              </a:pathLst>
            </a:custGeom>
            <a:solidFill>
              <a:srgbClr val="000000">
                <a:alpha val="0"/>
              </a:srgbClr>
            </a:solidFill>
          </p:spPr>
        </p:sp>
        <p:sp>
          <p:nvSpPr>
            <p:cNvPr name="TextBox 30" id="30"/>
            <p:cNvSpPr txBox="true"/>
            <p:nvPr/>
          </p:nvSpPr>
          <p:spPr>
            <a:xfrm>
              <a:off x="0" y="-66675"/>
              <a:ext cx="5319184" cy="699770"/>
            </a:xfrm>
            <a:prstGeom prst="rect">
              <a:avLst/>
            </a:prstGeom>
          </p:spPr>
          <p:txBody>
            <a:bodyPr anchor="t" rtlCol="false" tIns="0" lIns="0" bIns="0" rIns="0"/>
            <a:lstStyle/>
            <a:p>
              <a:pPr algn="ctr">
                <a:lnSpc>
                  <a:spcPts val="3359"/>
                </a:lnSpc>
              </a:pPr>
              <a:r>
                <a:rPr lang="en-US" sz="2399">
                  <a:solidFill>
                    <a:srgbClr val="FFFFFF"/>
                  </a:solidFill>
                  <a:latin typeface="Mokoto"/>
                  <a:ea typeface="Mokoto"/>
                  <a:cs typeface="Mokoto"/>
                  <a:sym typeface="Mokoto"/>
                </a:rPr>
                <a:t>DR. USman amjad</a:t>
              </a:r>
            </a:p>
          </p:txBody>
        </p:sp>
      </p:grpSp>
      <p:grpSp>
        <p:nvGrpSpPr>
          <p:cNvPr name="Group 31" id="31"/>
          <p:cNvGrpSpPr/>
          <p:nvPr/>
        </p:nvGrpSpPr>
        <p:grpSpPr>
          <a:xfrm rot="0">
            <a:off x="7890736" y="6084918"/>
            <a:ext cx="2336998" cy="351949"/>
            <a:chOff x="0" y="0"/>
            <a:chExt cx="3115997" cy="469265"/>
          </a:xfrm>
        </p:grpSpPr>
        <p:sp>
          <p:nvSpPr>
            <p:cNvPr name="Freeform 32" id="32"/>
            <p:cNvSpPr/>
            <p:nvPr/>
          </p:nvSpPr>
          <p:spPr>
            <a:xfrm flipH="false" flipV="false" rot="0">
              <a:off x="0" y="0"/>
              <a:ext cx="3115997" cy="469265"/>
            </a:xfrm>
            <a:custGeom>
              <a:avLst/>
              <a:gdLst/>
              <a:ahLst/>
              <a:cxnLst/>
              <a:rect r="r" b="b" t="t" l="l"/>
              <a:pathLst>
                <a:path h="469265" w="3115997">
                  <a:moveTo>
                    <a:pt x="0" y="0"/>
                  </a:moveTo>
                  <a:lnTo>
                    <a:pt x="3115997" y="0"/>
                  </a:lnTo>
                  <a:lnTo>
                    <a:pt x="3115997" y="469265"/>
                  </a:lnTo>
                  <a:lnTo>
                    <a:pt x="0" y="469265"/>
                  </a:lnTo>
                  <a:close/>
                </a:path>
              </a:pathLst>
            </a:custGeom>
            <a:solidFill>
              <a:srgbClr val="000000">
                <a:alpha val="0"/>
              </a:srgbClr>
            </a:solidFill>
          </p:spPr>
        </p:sp>
        <p:sp>
          <p:nvSpPr>
            <p:cNvPr name="TextBox 33" id="33"/>
            <p:cNvSpPr txBox="true"/>
            <p:nvPr/>
          </p:nvSpPr>
          <p:spPr>
            <a:xfrm>
              <a:off x="0" y="-47625"/>
              <a:ext cx="3115997"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Submitted to</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0">
            <a:off x="0" y="0"/>
            <a:ext cx="2792637" cy="2534324"/>
            <a:chOff x="0" y="0"/>
            <a:chExt cx="4650359" cy="4220210"/>
          </a:xfrm>
        </p:grpSpPr>
        <p:sp>
          <p:nvSpPr>
            <p:cNvPr name="Freeform 3" id="3"/>
            <p:cNvSpPr/>
            <p:nvPr/>
          </p:nvSpPr>
          <p:spPr>
            <a:xfrm flipH="false" flipV="false" rot="0">
              <a:off x="0" y="0"/>
              <a:ext cx="4650359" cy="4220210"/>
            </a:xfrm>
            <a:custGeom>
              <a:avLst/>
              <a:gdLst/>
              <a:ahLst/>
              <a:cxnLst/>
              <a:rect r="r" b="b" t="t" l="l"/>
              <a:pathLst>
                <a:path h="4220210" w="4650359">
                  <a:moveTo>
                    <a:pt x="0" y="0"/>
                  </a:moveTo>
                  <a:lnTo>
                    <a:pt x="4650359" y="0"/>
                  </a:lnTo>
                  <a:lnTo>
                    <a:pt x="4650359" y="4220210"/>
                  </a:lnTo>
                  <a:lnTo>
                    <a:pt x="0" y="4220210"/>
                  </a:lnTo>
                  <a:lnTo>
                    <a:pt x="0" y="0"/>
                  </a:lnTo>
                  <a:close/>
                </a:path>
              </a:pathLst>
            </a:custGeom>
            <a:blipFill>
              <a:blip r:embed="rId2"/>
              <a:stretch>
                <a:fillRect l="0" t="-43" r="0" b="-43"/>
              </a:stretch>
            </a:blipFill>
          </p:spPr>
        </p:sp>
      </p:grpSp>
      <p:grpSp>
        <p:nvGrpSpPr>
          <p:cNvPr name="Group 4" id="4"/>
          <p:cNvGrpSpPr/>
          <p:nvPr/>
        </p:nvGrpSpPr>
        <p:grpSpPr>
          <a:xfrm rot="0">
            <a:off x="15641211" y="7334606"/>
            <a:ext cx="2646789" cy="2838332"/>
            <a:chOff x="0" y="0"/>
            <a:chExt cx="5868416" cy="6293104"/>
          </a:xfrm>
        </p:grpSpPr>
        <p:sp>
          <p:nvSpPr>
            <p:cNvPr name="Freeform 5" id="5"/>
            <p:cNvSpPr/>
            <p:nvPr/>
          </p:nvSpPr>
          <p:spPr>
            <a:xfrm flipH="false" flipV="false" rot="0">
              <a:off x="0" y="0"/>
              <a:ext cx="5868416" cy="6293104"/>
            </a:xfrm>
            <a:custGeom>
              <a:avLst/>
              <a:gdLst/>
              <a:ahLst/>
              <a:cxnLst/>
              <a:rect r="r" b="b" t="t" l="l"/>
              <a:pathLst>
                <a:path h="6293104" w="5868416">
                  <a:moveTo>
                    <a:pt x="0" y="0"/>
                  </a:moveTo>
                  <a:lnTo>
                    <a:pt x="5868416" y="0"/>
                  </a:lnTo>
                  <a:lnTo>
                    <a:pt x="5868416" y="6293104"/>
                  </a:lnTo>
                  <a:lnTo>
                    <a:pt x="0" y="6293104"/>
                  </a:lnTo>
                  <a:lnTo>
                    <a:pt x="0" y="0"/>
                  </a:lnTo>
                  <a:close/>
                </a:path>
              </a:pathLst>
            </a:custGeom>
            <a:blipFill>
              <a:blip r:embed="rId3"/>
              <a:stretch>
                <a:fillRect l="0" t="-126" r="0" b="-126"/>
              </a:stretch>
            </a:blipFill>
          </p:spPr>
        </p:sp>
      </p:grpSp>
      <p:grpSp>
        <p:nvGrpSpPr>
          <p:cNvPr name="Group 6" id="6"/>
          <p:cNvGrpSpPr/>
          <p:nvPr/>
        </p:nvGrpSpPr>
        <p:grpSpPr>
          <a:xfrm rot="-5314299">
            <a:off x="63954" y="7541071"/>
            <a:ext cx="2756146" cy="2670012"/>
            <a:chOff x="0" y="0"/>
            <a:chExt cx="4681474" cy="4535170"/>
          </a:xfrm>
        </p:grpSpPr>
        <p:sp>
          <p:nvSpPr>
            <p:cNvPr name="Freeform 7" id="7"/>
            <p:cNvSpPr/>
            <p:nvPr/>
          </p:nvSpPr>
          <p:spPr>
            <a:xfrm flipH="false" flipV="false" rot="0">
              <a:off x="0" y="0"/>
              <a:ext cx="4681474" cy="4535170"/>
            </a:xfrm>
            <a:custGeom>
              <a:avLst/>
              <a:gdLst/>
              <a:ahLst/>
              <a:cxnLst/>
              <a:rect r="r" b="b" t="t" l="l"/>
              <a:pathLst>
                <a:path h="4535170" w="4681474">
                  <a:moveTo>
                    <a:pt x="0" y="0"/>
                  </a:moveTo>
                  <a:lnTo>
                    <a:pt x="4681474" y="0"/>
                  </a:lnTo>
                  <a:lnTo>
                    <a:pt x="4681474" y="4535170"/>
                  </a:lnTo>
                  <a:lnTo>
                    <a:pt x="0" y="4535170"/>
                  </a:lnTo>
                  <a:lnTo>
                    <a:pt x="0" y="0"/>
                  </a:lnTo>
                  <a:close/>
                </a:path>
              </a:pathLst>
            </a:custGeom>
            <a:blipFill>
              <a:blip r:embed="rId4"/>
              <a:stretch>
                <a:fillRect l="-30" t="0" r="-30" b="0"/>
              </a:stretch>
            </a:blipFill>
          </p:spPr>
        </p:sp>
      </p:grpSp>
      <p:grpSp>
        <p:nvGrpSpPr>
          <p:cNvPr name="Group 8" id="8"/>
          <p:cNvGrpSpPr/>
          <p:nvPr/>
        </p:nvGrpSpPr>
        <p:grpSpPr>
          <a:xfrm rot="122149">
            <a:off x="15347022" y="62059"/>
            <a:ext cx="2805435" cy="2423199"/>
            <a:chOff x="0" y="0"/>
            <a:chExt cx="5460365" cy="4716399"/>
          </a:xfrm>
        </p:grpSpPr>
        <p:sp>
          <p:nvSpPr>
            <p:cNvPr name="Freeform 9" id="9"/>
            <p:cNvSpPr/>
            <p:nvPr/>
          </p:nvSpPr>
          <p:spPr>
            <a:xfrm flipH="false" flipV="false" rot="0">
              <a:off x="0" y="0"/>
              <a:ext cx="5460365" cy="4716399"/>
            </a:xfrm>
            <a:custGeom>
              <a:avLst/>
              <a:gdLst/>
              <a:ahLst/>
              <a:cxnLst/>
              <a:rect r="r" b="b" t="t" l="l"/>
              <a:pathLst>
                <a:path h="4716399" w="5460365">
                  <a:moveTo>
                    <a:pt x="0" y="0"/>
                  </a:moveTo>
                  <a:lnTo>
                    <a:pt x="5460365" y="0"/>
                  </a:lnTo>
                  <a:lnTo>
                    <a:pt x="5460365" y="4716399"/>
                  </a:lnTo>
                  <a:lnTo>
                    <a:pt x="0" y="4716399"/>
                  </a:lnTo>
                  <a:lnTo>
                    <a:pt x="0" y="0"/>
                  </a:lnTo>
                  <a:close/>
                </a:path>
              </a:pathLst>
            </a:custGeom>
            <a:blipFill>
              <a:blip r:embed="rId5"/>
              <a:stretch>
                <a:fillRect l="-30" t="0" r="-30" b="0"/>
              </a:stretch>
            </a:blipFill>
          </p:spPr>
        </p:sp>
      </p:grpSp>
      <p:grpSp>
        <p:nvGrpSpPr>
          <p:cNvPr name="Group 10" id="10"/>
          <p:cNvGrpSpPr/>
          <p:nvPr/>
        </p:nvGrpSpPr>
        <p:grpSpPr>
          <a:xfrm rot="0">
            <a:off x="5174096" y="1499044"/>
            <a:ext cx="12512487" cy="1155131"/>
            <a:chOff x="0" y="0"/>
            <a:chExt cx="16683316" cy="1540175"/>
          </a:xfrm>
        </p:grpSpPr>
        <p:sp>
          <p:nvSpPr>
            <p:cNvPr name="Freeform 11" id="11"/>
            <p:cNvSpPr/>
            <p:nvPr/>
          </p:nvSpPr>
          <p:spPr>
            <a:xfrm flipH="false" flipV="false" rot="0">
              <a:off x="0" y="0"/>
              <a:ext cx="16683317" cy="1540175"/>
            </a:xfrm>
            <a:custGeom>
              <a:avLst/>
              <a:gdLst/>
              <a:ahLst/>
              <a:cxnLst/>
              <a:rect r="r" b="b" t="t" l="l"/>
              <a:pathLst>
                <a:path h="1540175" w="16683317">
                  <a:moveTo>
                    <a:pt x="0" y="0"/>
                  </a:moveTo>
                  <a:lnTo>
                    <a:pt x="16683317" y="0"/>
                  </a:lnTo>
                  <a:lnTo>
                    <a:pt x="16683317" y="1540175"/>
                  </a:lnTo>
                  <a:lnTo>
                    <a:pt x="0" y="1540175"/>
                  </a:lnTo>
                  <a:close/>
                </a:path>
              </a:pathLst>
            </a:custGeom>
            <a:solidFill>
              <a:srgbClr val="000000">
                <a:alpha val="0"/>
              </a:srgbClr>
            </a:solidFill>
          </p:spPr>
        </p:sp>
        <p:sp>
          <p:nvSpPr>
            <p:cNvPr name="TextBox 12" id="12"/>
            <p:cNvSpPr txBox="true"/>
            <p:nvPr/>
          </p:nvSpPr>
          <p:spPr>
            <a:xfrm>
              <a:off x="0" y="-28575"/>
              <a:ext cx="16683316" cy="1568750"/>
            </a:xfrm>
            <a:prstGeom prst="rect">
              <a:avLst/>
            </a:prstGeom>
          </p:spPr>
          <p:txBody>
            <a:bodyPr anchor="t" rtlCol="false" tIns="0" lIns="0" bIns="0" rIns="0"/>
            <a:lstStyle/>
            <a:p>
              <a:pPr algn="l">
                <a:lnSpc>
                  <a:spcPts val="6863"/>
                </a:lnSpc>
              </a:pPr>
              <a:r>
                <a:rPr lang="en-US" sz="5498">
                  <a:solidFill>
                    <a:srgbClr val="FFFFFF"/>
                  </a:solidFill>
                  <a:latin typeface="Mokoto"/>
                  <a:ea typeface="Mokoto"/>
                  <a:cs typeface="Mokoto"/>
                  <a:sym typeface="Mokoto"/>
                </a:rPr>
                <a:t>INTRODUCTION</a:t>
              </a:r>
            </a:p>
          </p:txBody>
        </p:sp>
      </p:grpSp>
      <p:grpSp>
        <p:nvGrpSpPr>
          <p:cNvPr name="Group 13" id="13"/>
          <p:cNvGrpSpPr/>
          <p:nvPr/>
        </p:nvGrpSpPr>
        <p:grpSpPr>
          <a:xfrm rot="0">
            <a:off x="3149733" y="2380952"/>
            <a:ext cx="12108743" cy="5866451"/>
            <a:chOff x="0" y="0"/>
            <a:chExt cx="16144991" cy="7821934"/>
          </a:xfrm>
        </p:grpSpPr>
        <p:sp>
          <p:nvSpPr>
            <p:cNvPr name="Freeform 14" id="14"/>
            <p:cNvSpPr/>
            <p:nvPr/>
          </p:nvSpPr>
          <p:spPr>
            <a:xfrm flipH="false" flipV="false" rot="0">
              <a:off x="0" y="0"/>
              <a:ext cx="16144991" cy="7821934"/>
            </a:xfrm>
            <a:custGeom>
              <a:avLst/>
              <a:gdLst/>
              <a:ahLst/>
              <a:cxnLst/>
              <a:rect r="r" b="b" t="t" l="l"/>
              <a:pathLst>
                <a:path h="7821934" w="16144991">
                  <a:moveTo>
                    <a:pt x="0" y="0"/>
                  </a:moveTo>
                  <a:lnTo>
                    <a:pt x="16144991" y="0"/>
                  </a:lnTo>
                  <a:lnTo>
                    <a:pt x="16144991" y="7821934"/>
                  </a:lnTo>
                  <a:lnTo>
                    <a:pt x="0" y="7821934"/>
                  </a:lnTo>
                  <a:close/>
                </a:path>
              </a:pathLst>
            </a:custGeom>
            <a:solidFill>
              <a:srgbClr val="000000">
                <a:alpha val="0"/>
              </a:srgbClr>
            </a:solidFill>
          </p:spPr>
        </p:sp>
        <p:sp>
          <p:nvSpPr>
            <p:cNvPr name="TextBox 15" id="15"/>
            <p:cNvSpPr txBox="true"/>
            <p:nvPr/>
          </p:nvSpPr>
          <p:spPr>
            <a:xfrm>
              <a:off x="0" y="-47625"/>
              <a:ext cx="16144991" cy="7869559"/>
            </a:xfrm>
            <a:prstGeom prst="rect">
              <a:avLst/>
            </a:prstGeom>
          </p:spPr>
          <p:txBody>
            <a:bodyPr anchor="t" rtlCol="false" tIns="0" lIns="0" bIns="0" rIns="0"/>
            <a:lstStyle/>
            <a:p>
              <a:pPr algn="l">
                <a:lnSpc>
                  <a:spcPts val="4198"/>
                </a:lnSpc>
              </a:pPr>
              <a:r>
                <a:rPr lang="en-US" sz="2997">
                  <a:solidFill>
                    <a:srgbClr val="FFFFFF"/>
                  </a:solidFill>
                  <a:latin typeface="Montserrat"/>
                  <a:ea typeface="Montserrat"/>
                  <a:cs typeface="Montserrat"/>
                  <a:sym typeface="Montserrat"/>
                </a:rPr>
                <a:t>In a city as complex as Karachi, daily commuting can be a challenge — especially when choosing the most efficient route.</a:t>
              </a:r>
            </a:p>
            <a:p>
              <a:pPr algn="l">
                <a:lnSpc>
                  <a:spcPts val="4198"/>
                </a:lnSpc>
              </a:pPr>
              <a:r>
                <a:rPr lang="en-US" sz="2997">
                  <a:solidFill>
                    <a:srgbClr val="FFFFFF"/>
                  </a:solidFill>
                  <a:latin typeface="Montserrat"/>
                  <a:ea typeface="Montserrat"/>
                  <a:cs typeface="Montserrat"/>
                  <a:sym typeface="Montserrat"/>
                </a:rPr>
                <a:t>This project aims to optimize travel for four individuals starting from North Nazimabad, North Karachi, Gulshan-e-Iqbal, and Water Pump, all heading to NED University.</a:t>
              </a:r>
            </a:p>
            <a:p>
              <a:pPr algn="l">
                <a:lnSpc>
                  <a:spcPts val="4198"/>
                </a:lnSpc>
              </a:pPr>
              <a:r>
                <a:rPr lang="en-US" sz="2997">
                  <a:solidFill>
                    <a:srgbClr val="FFFFFF"/>
                  </a:solidFill>
                  <a:latin typeface="Montserrat"/>
                  <a:ea typeface="Montserrat"/>
                  <a:cs typeface="Montserrat"/>
                  <a:sym typeface="Montserrat"/>
                </a:rPr>
                <a:t>With four possible entry gates and varying traffic patterns, the goal is to determine the shortest and fastest path for each person using different search algorithms.</a:t>
              </a:r>
            </a:p>
            <a:p>
              <a:pPr algn="l">
                <a:lnSpc>
                  <a:spcPts val="4198"/>
                </a:lnSpc>
              </a:pPr>
              <a:r>
                <a:rPr lang="en-US" sz="2997">
                  <a:solidFill>
                    <a:srgbClr val="FFFFFF"/>
                  </a:solidFill>
                  <a:latin typeface="Montserrat"/>
                  <a:ea typeface="Montserrat"/>
                  <a:cs typeface="Montserrat"/>
                  <a:sym typeface="Montserrat"/>
                </a:rPr>
                <a:t>By modeling Karachi as a graph, we analyze and compare DFS, BFS, Dijkstra’s, and A* algorithms to make intelligent gate recommendations.</a:t>
              </a:r>
            </a:p>
          </p:txBody>
        </p:sp>
      </p:grpSp>
      <p:grpSp>
        <p:nvGrpSpPr>
          <p:cNvPr name="Group 16" id="16"/>
          <p:cNvGrpSpPr/>
          <p:nvPr/>
        </p:nvGrpSpPr>
        <p:grpSpPr>
          <a:xfrm rot="-1600701">
            <a:off x="15319679" y="2553255"/>
            <a:ext cx="1207484" cy="1277779"/>
            <a:chOff x="0" y="0"/>
            <a:chExt cx="1609979" cy="1703705"/>
          </a:xfrm>
        </p:grpSpPr>
        <p:sp>
          <p:nvSpPr>
            <p:cNvPr name="Freeform 17" id="17"/>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6"/>
              <a:stretch>
                <a:fillRect l="-169" t="0" r="-169" b="0"/>
              </a:stretch>
            </a:blipFill>
          </p:spPr>
        </p:sp>
      </p:grpSp>
      <p:grpSp>
        <p:nvGrpSpPr>
          <p:cNvPr name="Group 18" id="18"/>
          <p:cNvGrpSpPr/>
          <p:nvPr/>
        </p:nvGrpSpPr>
        <p:grpSpPr>
          <a:xfrm rot="1558470">
            <a:off x="15242400" y="7079551"/>
            <a:ext cx="797623" cy="847439"/>
            <a:chOff x="0" y="0"/>
            <a:chExt cx="1063498" cy="1129919"/>
          </a:xfrm>
        </p:grpSpPr>
        <p:sp>
          <p:nvSpPr>
            <p:cNvPr name="Freeform 19" id="19"/>
            <p:cNvSpPr/>
            <p:nvPr/>
          </p:nvSpPr>
          <p:spPr>
            <a:xfrm flipH="false" flipV="false" rot="0">
              <a:off x="0" y="0"/>
              <a:ext cx="1063498" cy="1129919"/>
            </a:xfrm>
            <a:custGeom>
              <a:avLst/>
              <a:gdLst/>
              <a:ahLst/>
              <a:cxnLst/>
              <a:rect r="r" b="b" t="t" l="l"/>
              <a:pathLst>
                <a:path h="1129919" w="1063498">
                  <a:moveTo>
                    <a:pt x="0" y="0"/>
                  </a:moveTo>
                  <a:lnTo>
                    <a:pt x="1063498" y="0"/>
                  </a:lnTo>
                  <a:lnTo>
                    <a:pt x="1063498" y="1129919"/>
                  </a:lnTo>
                  <a:lnTo>
                    <a:pt x="0" y="1129919"/>
                  </a:lnTo>
                  <a:lnTo>
                    <a:pt x="0" y="0"/>
                  </a:lnTo>
                  <a:close/>
                </a:path>
              </a:pathLst>
            </a:custGeom>
            <a:blipFill>
              <a:blip r:embed="rId7"/>
              <a:stretch>
                <a:fillRect l="0" t="-88" r="0" b="-88"/>
              </a:stretch>
            </a:blipFill>
          </p:spPr>
        </p:sp>
      </p:grpSp>
      <p:grpSp>
        <p:nvGrpSpPr>
          <p:cNvPr name="Group 20" id="20"/>
          <p:cNvGrpSpPr/>
          <p:nvPr/>
        </p:nvGrpSpPr>
        <p:grpSpPr>
          <a:xfrm rot="0">
            <a:off x="1703434" y="2203894"/>
            <a:ext cx="922115" cy="945737"/>
            <a:chOff x="0" y="0"/>
            <a:chExt cx="1229487" cy="1260983"/>
          </a:xfrm>
        </p:grpSpPr>
        <p:sp>
          <p:nvSpPr>
            <p:cNvPr name="Freeform 21" id="21"/>
            <p:cNvSpPr/>
            <p:nvPr/>
          </p:nvSpPr>
          <p:spPr>
            <a:xfrm flipH="false" flipV="false" rot="0">
              <a:off x="0" y="0"/>
              <a:ext cx="1229487" cy="1260983"/>
            </a:xfrm>
            <a:custGeom>
              <a:avLst/>
              <a:gdLst/>
              <a:ahLst/>
              <a:cxnLst/>
              <a:rect r="r" b="b" t="t" l="l"/>
              <a:pathLst>
                <a:path h="1260983" w="1229487">
                  <a:moveTo>
                    <a:pt x="0" y="0"/>
                  </a:moveTo>
                  <a:lnTo>
                    <a:pt x="1229487" y="0"/>
                  </a:lnTo>
                  <a:lnTo>
                    <a:pt x="1229487" y="1260983"/>
                  </a:lnTo>
                  <a:lnTo>
                    <a:pt x="0" y="1260983"/>
                  </a:lnTo>
                  <a:lnTo>
                    <a:pt x="0" y="0"/>
                  </a:lnTo>
                  <a:close/>
                </a:path>
              </a:pathLst>
            </a:custGeom>
            <a:blipFill>
              <a:blip r:embed="rId8"/>
              <a:stretch>
                <a:fillRect l="0" t="-20" r="0" b="-20"/>
              </a:stretch>
            </a:blipFill>
          </p:spPr>
        </p:sp>
      </p:grpSp>
      <p:grpSp>
        <p:nvGrpSpPr>
          <p:cNvPr name="Group 22" id="22"/>
          <p:cNvGrpSpPr/>
          <p:nvPr/>
        </p:nvGrpSpPr>
        <p:grpSpPr>
          <a:xfrm rot="0">
            <a:off x="1002877" y="5855912"/>
            <a:ext cx="878300" cy="827246"/>
            <a:chOff x="0" y="0"/>
            <a:chExt cx="1171067" cy="1102995"/>
          </a:xfrm>
        </p:grpSpPr>
        <p:sp>
          <p:nvSpPr>
            <p:cNvPr name="Freeform 23" id="23"/>
            <p:cNvSpPr/>
            <p:nvPr/>
          </p:nvSpPr>
          <p:spPr>
            <a:xfrm flipH="false" flipV="false" rot="0">
              <a:off x="0" y="0"/>
              <a:ext cx="1171067" cy="1102995"/>
            </a:xfrm>
            <a:custGeom>
              <a:avLst/>
              <a:gdLst/>
              <a:ahLst/>
              <a:cxnLst/>
              <a:rect r="r" b="b" t="t" l="l"/>
              <a:pathLst>
                <a:path h="1102995" w="1171067">
                  <a:moveTo>
                    <a:pt x="0" y="0"/>
                  </a:moveTo>
                  <a:lnTo>
                    <a:pt x="1171067" y="0"/>
                  </a:lnTo>
                  <a:lnTo>
                    <a:pt x="1171067" y="1102995"/>
                  </a:lnTo>
                  <a:lnTo>
                    <a:pt x="0" y="1102995"/>
                  </a:lnTo>
                  <a:lnTo>
                    <a:pt x="0" y="0"/>
                  </a:lnTo>
                  <a:close/>
                </a:path>
              </a:pathLst>
            </a:custGeom>
            <a:blipFill>
              <a:blip r:embed="rId9"/>
              <a:stretch>
                <a:fillRect l="-60" t="0" r="-60" b="0"/>
              </a:stretch>
            </a:blipFill>
          </p:spPr>
        </p:sp>
      </p:grpSp>
      <p:grpSp>
        <p:nvGrpSpPr>
          <p:cNvPr name="Group 24" id="24"/>
          <p:cNvGrpSpPr/>
          <p:nvPr/>
        </p:nvGrpSpPr>
        <p:grpSpPr>
          <a:xfrm rot="0">
            <a:off x="13320137" y="871828"/>
            <a:ext cx="580358" cy="570262"/>
            <a:chOff x="0" y="0"/>
            <a:chExt cx="773811" cy="760349"/>
          </a:xfrm>
        </p:grpSpPr>
        <p:sp>
          <p:nvSpPr>
            <p:cNvPr name="Freeform 25" id="25"/>
            <p:cNvSpPr/>
            <p:nvPr/>
          </p:nvSpPr>
          <p:spPr>
            <a:xfrm flipH="false" flipV="false" rot="0">
              <a:off x="0" y="0"/>
              <a:ext cx="773811" cy="760349"/>
            </a:xfrm>
            <a:custGeom>
              <a:avLst/>
              <a:gdLst/>
              <a:ahLst/>
              <a:cxnLst/>
              <a:rect r="r" b="b" t="t" l="l"/>
              <a:pathLst>
                <a:path h="760349" w="773811">
                  <a:moveTo>
                    <a:pt x="0" y="0"/>
                  </a:moveTo>
                  <a:lnTo>
                    <a:pt x="773811" y="0"/>
                  </a:lnTo>
                  <a:lnTo>
                    <a:pt x="773811" y="760349"/>
                  </a:lnTo>
                  <a:lnTo>
                    <a:pt x="0" y="760349"/>
                  </a:lnTo>
                  <a:lnTo>
                    <a:pt x="0" y="0"/>
                  </a:lnTo>
                  <a:close/>
                </a:path>
              </a:pathLst>
            </a:custGeom>
            <a:blipFill>
              <a:blip r:embed="rId10"/>
              <a:stretch>
                <a:fillRect l="0" t="-44" r="0" b="-44"/>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0">
            <a:off x="3838891" y="908212"/>
            <a:ext cx="11053409" cy="1959351"/>
            <a:chOff x="0" y="0"/>
            <a:chExt cx="14737879" cy="2612468"/>
          </a:xfrm>
        </p:grpSpPr>
        <p:sp>
          <p:nvSpPr>
            <p:cNvPr name="Freeform 3" id="3"/>
            <p:cNvSpPr/>
            <p:nvPr/>
          </p:nvSpPr>
          <p:spPr>
            <a:xfrm flipH="false" flipV="false" rot="0">
              <a:off x="0" y="0"/>
              <a:ext cx="14737879" cy="2612468"/>
            </a:xfrm>
            <a:custGeom>
              <a:avLst/>
              <a:gdLst/>
              <a:ahLst/>
              <a:cxnLst/>
              <a:rect r="r" b="b" t="t" l="l"/>
              <a:pathLst>
                <a:path h="2612468" w="14737879">
                  <a:moveTo>
                    <a:pt x="0" y="0"/>
                  </a:moveTo>
                  <a:lnTo>
                    <a:pt x="14737879" y="0"/>
                  </a:lnTo>
                  <a:lnTo>
                    <a:pt x="14737879" y="2612468"/>
                  </a:lnTo>
                  <a:lnTo>
                    <a:pt x="0" y="2612468"/>
                  </a:lnTo>
                  <a:close/>
                </a:path>
              </a:pathLst>
            </a:custGeom>
            <a:solidFill>
              <a:srgbClr val="000000">
                <a:alpha val="0"/>
              </a:srgbClr>
            </a:solidFill>
          </p:spPr>
        </p:sp>
        <p:sp>
          <p:nvSpPr>
            <p:cNvPr name="TextBox 4" id="4"/>
            <p:cNvSpPr txBox="true"/>
            <p:nvPr/>
          </p:nvSpPr>
          <p:spPr>
            <a:xfrm>
              <a:off x="0" y="-28575"/>
              <a:ext cx="14737879" cy="2641043"/>
            </a:xfrm>
            <a:prstGeom prst="rect">
              <a:avLst/>
            </a:prstGeom>
          </p:spPr>
          <p:txBody>
            <a:bodyPr anchor="t" rtlCol="false" tIns="0" lIns="0" bIns="0" rIns="0"/>
            <a:lstStyle/>
            <a:p>
              <a:pPr algn="ctr">
                <a:lnSpc>
                  <a:spcPts val="5105"/>
                </a:lnSpc>
              </a:pPr>
              <a:r>
                <a:rPr lang="en-US" sz="4090">
                  <a:solidFill>
                    <a:srgbClr val="FFFFFF"/>
                  </a:solidFill>
                  <a:latin typeface="Mokoto"/>
                  <a:ea typeface="Mokoto"/>
                  <a:cs typeface="Mokoto"/>
                  <a:sym typeface="Mokoto"/>
                </a:rPr>
                <a:t>MODULAR OVERVIEW OF THE ROUTING ALGORITHM IMPLEMENTATION</a:t>
              </a:r>
            </a:p>
          </p:txBody>
        </p:sp>
      </p:grpSp>
      <p:grpSp>
        <p:nvGrpSpPr>
          <p:cNvPr name="Group 5" id="5"/>
          <p:cNvGrpSpPr/>
          <p:nvPr/>
        </p:nvGrpSpPr>
        <p:grpSpPr>
          <a:xfrm rot="1392916">
            <a:off x="1385812" y="8447099"/>
            <a:ext cx="1158145" cy="1295876"/>
            <a:chOff x="0" y="0"/>
            <a:chExt cx="1544193" cy="1727835"/>
          </a:xfrm>
        </p:grpSpPr>
        <p:sp>
          <p:nvSpPr>
            <p:cNvPr name="Freeform 6" id="6"/>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7" id="7"/>
          <p:cNvGrpSpPr/>
          <p:nvPr/>
        </p:nvGrpSpPr>
        <p:grpSpPr>
          <a:xfrm rot="-1600701">
            <a:off x="16124859" y="1494606"/>
            <a:ext cx="1207484" cy="1277779"/>
            <a:chOff x="0" y="0"/>
            <a:chExt cx="1609979" cy="1703705"/>
          </a:xfrm>
        </p:grpSpPr>
        <p:sp>
          <p:nvSpPr>
            <p:cNvPr name="Freeform 8" id="8"/>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9" id="9"/>
          <p:cNvGrpSpPr/>
          <p:nvPr/>
        </p:nvGrpSpPr>
        <p:grpSpPr>
          <a:xfrm rot="1558470">
            <a:off x="15924304" y="8900504"/>
            <a:ext cx="1129284" cy="1199769"/>
            <a:chOff x="0" y="0"/>
            <a:chExt cx="1505712" cy="1599692"/>
          </a:xfrm>
        </p:grpSpPr>
        <p:sp>
          <p:nvSpPr>
            <p:cNvPr name="Freeform 10" id="10"/>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11" id="11"/>
          <p:cNvGrpSpPr/>
          <p:nvPr/>
        </p:nvGrpSpPr>
        <p:grpSpPr>
          <a:xfrm rot="0">
            <a:off x="589560" y="1466616"/>
            <a:ext cx="1112043" cy="1140524"/>
            <a:chOff x="0" y="0"/>
            <a:chExt cx="1482725" cy="1520698"/>
          </a:xfrm>
        </p:grpSpPr>
        <p:sp>
          <p:nvSpPr>
            <p:cNvPr name="Freeform 12" id="12"/>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3" id="13"/>
          <p:cNvGrpSpPr/>
          <p:nvPr/>
        </p:nvGrpSpPr>
        <p:grpSpPr>
          <a:xfrm rot="-941928">
            <a:off x="2096426" y="227658"/>
            <a:ext cx="835533" cy="1602105"/>
            <a:chOff x="0" y="0"/>
            <a:chExt cx="1114044" cy="2136140"/>
          </a:xfrm>
        </p:grpSpPr>
        <p:sp>
          <p:nvSpPr>
            <p:cNvPr name="Freeform 14" id="14"/>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5" id="15"/>
          <p:cNvGrpSpPr/>
          <p:nvPr/>
        </p:nvGrpSpPr>
        <p:grpSpPr>
          <a:xfrm rot="0">
            <a:off x="95031" y="6979327"/>
            <a:ext cx="989076" cy="931545"/>
            <a:chOff x="0" y="0"/>
            <a:chExt cx="1318768" cy="1242060"/>
          </a:xfrm>
        </p:grpSpPr>
        <p:sp>
          <p:nvSpPr>
            <p:cNvPr name="Freeform 16" id="16"/>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7" id="17"/>
          <p:cNvGrpSpPr/>
          <p:nvPr/>
        </p:nvGrpSpPr>
        <p:grpSpPr>
          <a:xfrm rot="0">
            <a:off x="16728581" y="7280319"/>
            <a:ext cx="1061466" cy="1261110"/>
            <a:chOff x="0" y="0"/>
            <a:chExt cx="1415288" cy="1681480"/>
          </a:xfrm>
        </p:grpSpPr>
        <p:sp>
          <p:nvSpPr>
            <p:cNvPr name="Freeform 18" id="18"/>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9" id="19"/>
          <p:cNvGrpSpPr/>
          <p:nvPr/>
        </p:nvGrpSpPr>
        <p:grpSpPr>
          <a:xfrm rot="0">
            <a:off x="14811696" y="192563"/>
            <a:ext cx="850963" cy="836105"/>
            <a:chOff x="0" y="0"/>
            <a:chExt cx="1134618" cy="1114806"/>
          </a:xfrm>
        </p:grpSpPr>
        <p:sp>
          <p:nvSpPr>
            <p:cNvPr name="Freeform 20" id="20"/>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21" id="21"/>
          <p:cNvGrpSpPr/>
          <p:nvPr/>
        </p:nvGrpSpPr>
        <p:grpSpPr>
          <a:xfrm rot="0">
            <a:off x="3630631" y="5622202"/>
            <a:ext cx="11606498" cy="4296537"/>
            <a:chOff x="0" y="0"/>
            <a:chExt cx="15475331" cy="5728716"/>
          </a:xfrm>
        </p:grpSpPr>
        <p:sp>
          <p:nvSpPr>
            <p:cNvPr name="Freeform 22" id="22"/>
            <p:cNvSpPr/>
            <p:nvPr/>
          </p:nvSpPr>
          <p:spPr>
            <a:xfrm flipH="false" flipV="false" rot="0">
              <a:off x="0" y="0"/>
              <a:ext cx="15475331" cy="5728716"/>
            </a:xfrm>
            <a:custGeom>
              <a:avLst/>
              <a:gdLst/>
              <a:ahLst/>
              <a:cxnLst/>
              <a:rect r="r" b="b" t="t" l="l"/>
              <a:pathLst>
                <a:path h="5728716" w="15475331">
                  <a:moveTo>
                    <a:pt x="0" y="0"/>
                  </a:moveTo>
                  <a:lnTo>
                    <a:pt x="15475331" y="0"/>
                  </a:lnTo>
                  <a:lnTo>
                    <a:pt x="15475331" y="5728716"/>
                  </a:lnTo>
                  <a:lnTo>
                    <a:pt x="0" y="5728716"/>
                  </a:lnTo>
                  <a:lnTo>
                    <a:pt x="0" y="0"/>
                  </a:lnTo>
                  <a:close/>
                </a:path>
              </a:pathLst>
            </a:custGeom>
            <a:blipFill>
              <a:blip r:embed="rId10"/>
              <a:stretch>
                <a:fillRect l="0" t="-407" r="0" b="-407"/>
              </a:stretch>
            </a:blipFill>
          </p:spPr>
        </p:sp>
      </p:grpSp>
      <p:grpSp>
        <p:nvGrpSpPr>
          <p:cNvPr name="Group 23" id="23"/>
          <p:cNvGrpSpPr/>
          <p:nvPr/>
        </p:nvGrpSpPr>
        <p:grpSpPr>
          <a:xfrm rot="0">
            <a:off x="3133082" y="3443928"/>
            <a:ext cx="11902809" cy="2016934"/>
            <a:chOff x="0" y="0"/>
            <a:chExt cx="15870412" cy="2689245"/>
          </a:xfrm>
        </p:grpSpPr>
        <p:sp>
          <p:nvSpPr>
            <p:cNvPr name="Freeform 24" id="24"/>
            <p:cNvSpPr/>
            <p:nvPr/>
          </p:nvSpPr>
          <p:spPr>
            <a:xfrm flipH="false" flipV="false" rot="0">
              <a:off x="0" y="0"/>
              <a:ext cx="15870413" cy="2689245"/>
            </a:xfrm>
            <a:custGeom>
              <a:avLst/>
              <a:gdLst/>
              <a:ahLst/>
              <a:cxnLst/>
              <a:rect r="r" b="b" t="t" l="l"/>
              <a:pathLst>
                <a:path h="2689245" w="15870413">
                  <a:moveTo>
                    <a:pt x="0" y="0"/>
                  </a:moveTo>
                  <a:lnTo>
                    <a:pt x="15870413" y="0"/>
                  </a:lnTo>
                  <a:lnTo>
                    <a:pt x="15870413" y="2689245"/>
                  </a:lnTo>
                  <a:lnTo>
                    <a:pt x="0" y="2689245"/>
                  </a:lnTo>
                  <a:close/>
                </a:path>
              </a:pathLst>
            </a:custGeom>
            <a:solidFill>
              <a:srgbClr val="000000">
                <a:alpha val="0"/>
              </a:srgbClr>
            </a:solidFill>
          </p:spPr>
        </p:sp>
        <p:sp>
          <p:nvSpPr>
            <p:cNvPr name="TextBox 25" id="25"/>
            <p:cNvSpPr txBox="true"/>
            <p:nvPr/>
          </p:nvSpPr>
          <p:spPr>
            <a:xfrm>
              <a:off x="0" y="-47625"/>
              <a:ext cx="15870412" cy="2736870"/>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1- graph modeling</a:t>
              </a:r>
            </a:p>
            <a:p>
              <a:pPr algn="ctr">
                <a:lnSpc>
                  <a:spcPts val="3078"/>
                </a:lnSpc>
              </a:pPr>
            </a:p>
            <a:p>
              <a:pPr algn="ctr">
                <a:lnSpc>
                  <a:spcPts val="3078"/>
                </a:lnSpc>
              </a:pPr>
              <a:r>
                <a:rPr lang="en-US" sz="2199">
                  <a:solidFill>
                    <a:srgbClr val="FFFFFF"/>
                  </a:solidFill>
                  <a:latin typeface="Mokoto"/>
                  <a:ea typeface="Mokoto"/>
                  <a:cs typeface="Mokoto"/>
                  <a:sym typeface="Mokoto"/>
                </a:rPr>
                <a:t>The city map is modeled as a weighted graph using a Python dictionary. Nodes are locations; edges have distance and congestion.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935915" y="5015733"/>
            <a:ext cx="11301222" cy="1963579"/>
            <a:chOff x="0" y="0"/>
            <a:chExt cx="15068296" cy="2618105"/>
          </a:xfrm>
        </p:grpSpPr>
        <p:sp>
          <p:nvSpPr>
            <p:cNvPr name="Freeform 19" id="19"/>
            <p:cNvSpPr/>
            <p:nvPr/>
          </p:nvSpPr>
          <p:spPr>
            <a:xfrm flipH="false" flipV="false" rot="0">
              <a:off x="0" y="0"/>
              <a:ext cx="15068296" cy="2618105"/>
            </a:xfrm>
            <a:custGeom>
              <a:avLst/>
              <a:gdLst/>
              <a:ahLst/>
              <a:cxnLst/>
              <a:rect r="r" b="b" t="t" l="l"/>
              <a:pathLst>
                <a:path h="2618105" w="15068296">
                  <a:moveTo>
                    <a:pt x="0" y="0"/>
                  </a:moveTo>
                  <a:lnTo>
                    <a:pt x="15068296" y="0"/>
                  </a:lnTo>
                  <a:lnTo>
                    <a:pt x="15068296" y="2618105"/>
                  </a:lnTo>
                  <a:lnTo>
                    <a:pt x="0" y="2618105"/>
                  </a:lnTo>
                  <a:lnTo>
                    <a:pt x="0" y="0"/>
                  </a:lnTo>
                  <a:close/>
                </a:path>
              </a:pathLst>
            </a:custGeom>
            <a:blipFill>
              <a:blip r:embed="rId10"/>
              <a:stretch>
                <a:fillRect l="0" t="-73" r="0" b="-73"/>
              </a:stretch>
            </a:blipFill>
          </p:spPr>
        </p:sp>
      </p:grpSp>
      <p:grpSp>
        <p:nvGrpSpPr>
          <p:cNvPr name="Group 20" id="20"/>
          <p:cNvGrpSpPr/>
          <p:nvPr/>
        </p:nvGrpSpPr>
        <p:grpSpPr>
          <a:xfrm rot="0">
            <a:off x="3192595" y="1829547"/>
            <a:ext cx="11902809" cy="2016934"/>
            <a:chOff x="0" y="0"/>
            <a:chExt cx="15870412" cy="2689245"/>
          </a:xfrm>
        </p:grpSpPr>
        <p:sp>
          <p:nvSpPr>
            <p:cNvPr name="Freeform 21" id="21"/>
            <p:cNvSpPr/>
            <p:nvPr/>
          </p:nvSpPr>
          <p:spPr>
            <a:xfrm flipH="false" flipV="false" rot="0">
              <a:off x="0" y="0"/>
              <a:ext cx="15870413" cy="2689245"/>
            </a:xfrm>
            <a:custGeom>
              <a:avLst/>
              <a:gdLst/>
              <a:ahLst/>
              <a:cxnLst/>
              <a:rect r="r" b="b" t="t" l="l"/>
              <a:pathLst>
                <a:path h="2689245" w="15870413">
                  <a:moveTo>
                    <a:pt x="0" y="0"/>
                  </a:moveTo>
                  <a:lnTo>
                    <a:pt x="15870413" y="0"/>
                  </a:lnTo>
                  <a:lnTo>
                    <a:pt x="15870413" y="2689245"/>
                  </a:lnTo>
                  <a:lnTo>
                    <a:pt x="0" y="2689245"/>
                  </a:lnTo>
                  <a:close/>
                </a:path>
              </a:pathLst>
            </a:custGeom>
            <a:solidFill>
              <a:srgbClr val="000000">
                <a:alpha val="0"/>
              </a:srgbClr>
            </a:solidFill>
          </p:spPr>
        </p:sp>
        <p:sp>
          <p:nvSpPr>
            <p:cNvPr name="TextBox 22" id="22"/>
            <p:cNvSpPr txBox="true"/>
            <p:nvPr/>
          </p:nvSpPr>
          <p:spPr>
            <a:xfrm>
              <a:off x="0" y="-47625"/>
              <a:ext cx="15870412" cy="2736870"/>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2. Simulating Live Congestion</a:t>
              </a:r>
            </a:p>
            <a:p>
              <a:pPr algn="ctr">
                <a:lnSpc>
                  <a:spcPts val="3078"/>
                </a:lnSpc>
              </a:pPr>
            </a:p>
            <a:p>
              <a:pPr algn="ctr">
                <a:lnSpc>
                  <a:spcPts val="3078"/>
                </a:lnSpc>
              </a:pPr>
              <a:r>
                <a:rPr lang="en-US" sz="2199">
                  <a:solidFill>
                    <a:srgbClr val="FFFFFF"/>
                  </a:solidFill>
                  <a:latin typeface="Mokoto"/>
                  <a:ea typeface="Mokoto"/>
                  <a:cs typeface="Mokoto"/>
                  <a:sym typeface="Mokoto"/>
                </a:rPr>
                <a:t>Random congestion values are generated (between 0.1 and 0.8) to simulate real-time traffic on all roads.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703401" y="4041529"/>
            <a:ext cx="11064336" cy="4672299"/>
            <a:chOff x="0" y="0"/>
            <a:chExt cx="14752447" cy="6229731"/>
          </a:xfrm>
        </p:grpSpPr>
        <p:sp>
          <p:nvSpPr>
            <p:cNvPr name="Freeform 19" id="19"/>
            <p:cNvSpPr/>
            <p:nvPr/>
          </p:nvSpPr>
          <p:spPr>
            <a:xfrm flipH="false" flipV="false" rot="0">
              <a:off x="0" y="0"/>
              <a:ext cx="14752447" cy="6229731"/>
            </a:xfrm>
            <a:custGeom>
              <a:avLst/>
              <a:gdLst/>
              <a:ahLst/>
              <a:cxnLst/>
              <a:rect r="r" b="b" t="t" l="l"/>
              <a:pathLst>
                <a:path h="6229731" w="14752447">
                  <a:moveTo>
                    <a:pt x="0" y="0"/>
                  </a:moveTo>
                  <a:lnTo>
                    <a:pt x="14752447" y="0"/>
                  </a:lnTo>
                  <a:lnTo>
                    <a:pt x="14752447" y="6229731"/>
                  </a:lnTo>
                  <a:lnTo>
                    <a:pt x="0" y="6229731"/>
                  </a:lnTo>
                  <a:lnTo>
                    <a:pt x="0" y="0"/>
                  </a:lnTo>
                  <a:close/>
                </a:path>
              </a:pathLst>
            </a:custGeom>
            <a:blipFill>
              <a:blip r:embed="rId10"/>
              <a:stretch>
                <a:fillRect l="0" t="0" r="0" b="0"/>
              </a:stretch>
            </a:blipFill>
          </p:spPr>
        </p:sp>
      </p:grpSp>
      <p:grpSp>
        <p:nvGrpSpPr>
          <p:cNvPr name="Group 20" id="20"/>
          <p:cNvGrpSpPr/>
          <p:nvPr/>
        </p:nvGrpSpPr>
        <p:grpSpPr>
          <a:xfrm rot="0">
            <a:off x="3192595" y="1829547"/>
            <a:ext cx="11902809" cy="1626409"/>
            <a:chOff x="0" y="0"/>
            <a:chExt cx="15870412" cy="2168545"/>
          </a:xfrm>
        </p:grpSpPr>
        <p:sp>
          <p:nvSpPr>
            <p:cNvPr name="Freeform 21" id="21"/>
            <p:cNvSpPr/>
            <p:nvPr/>
          </p:nvSpPr>
          <p:spPr>
            <a:xfrm flipH="false" flipV="false" rot="0">
              <a:off x="0" y="0"/>
              <a:ext cx="15870413" cy="2168545"/>
            </a:xfrm>
            <a:custGeom>
              <a:avLst/>
              <a:gdLst/>
              <a:ahLst/>
              <a:cxnLst/>
              <a:rect r="r" b="b" t="t" l="l"/>
              <a:pathLst>
                <a:path h="2168545" w="15870413">
                  <a:moveTo>
                    <a:pt x="0" y="0"/>
                  </a:moveTo>
                  <a:lnTo>
                    <a:pt x="15870413" y="0"/>
                  </a:lnTo>
                  <a:lnTo>
                    <a:pt x="15870413" y="2168545"/>
                  </a:lnTo>
                  <a:lnTo>
                    <a:pt x="0" y="2168545"/>
                  </a:lnTo>
                  <a:close/>
                </a:path>
              </a:pathLst>
            </a:custGeom>
            <a:solidFill>
              <a:srgbClr val="000000">
                <a:alpha val="0"/>
              </a:srgbClr>
            </a:solidFill>
          </p:spPr>
        </p:sp>
        <p:sp>
          <p:nvSpPr>
            <p:cNvPr name="TextBox 22" id="22"/>
            <p:cNvSpPr txBox="true"/>
            <p:nvPr/>
          </p:nvSpPr>
          <p:spPr>
            <a:xfrm>
              <a:off x="0" y="-47625"/>
              <a:ext cx="15870412" cy="2216170"/>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3. Travel Time Calculation</a:t>
              </a:r>
            </a:p>
            <a:p>
              <a:pPr algn="ctr">
                <a:lnSpc>
                  <a:spcPts val="3078"/>
                </a:lnSpc>
              </a:pPr>
            </a:p>
            <a:p>
              <a:pPr algn="ctr">
                <a:lnSpc>
                  <a:spcPts val="3078"/>
                </a:lnSpc>
              </a:pPr>
              <a:r>
                <a:rPr lang="en-US" sz="2199">
                  <a:solidFill>
                    <a:srgbClr val="FFFFFF"/>
                  </a:solidFill>
                  <a:latin typeface="Mokoto"/>
                  <a:ea typeface="Mokoto"/>
                  <a:cs typeface="Mokoto"/>
                  <a:sym typeface="Mokoto"/>
                </a:rPr>
                <a:t>Travel time is calculated dynamically using both distance and congestion, converting it into minutes.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133082" y="1383272"/>
            <a:ext cx="11902809" cy="2052526"/>
            <a:chOff x="0" y="0"/>
            <a:chExt cx="15870412" cy="2736701"/>
          </a:xfrm>
        </p:grpSpPr>
        <p:sp>
          <p:nvSpPr>
            <p:cNvPr name="Freeform 19" id="19"/>
            <p:cNvSpPr/>
            <p:nvPr/>
          </p:nvSpPr>
          <p:spPr>
            <a:xfrm flipH="false" flipV="false" rot="0">
              <a:off x="0" y="0"/>
              <a:ext cx="15870413" cy="2736701"/>
            </a:xfrm>
            <a:custGeom>
              <a:avLst/>
              <a:gdLst/>
              <a:ahLst/>
              <a:cxnLst/>
              <a:rect r="r" b="b" t="t" l="l"/>
              <a:pathLst>
                <a:path h="2736701" w="15870413">
                  <a:moveTo>
                    <a:pt x="0" y="0"/>
                  </a:moveTo>
                  <a:lnTo>
                    <a:pt x="15870413" y="0"/>
                  </a:lnTo>
                  <a:lnTo>
                    <a:pt x="15870413" y="2736701"/>
                  </a:lnTo>
                  <a:lnTo>
                    <a:pt x="0" y="2736701"/>
                  </a:lnTo>
                  <a:close/>
                </a:path>
              </a:pathLst>
            </a:custGeom>
            <a:solidFill>
              <a:srgbClr val="000000">
                <a:alpha val="0"/>
              </a:srgbClr>
            </a:solidFill>
          </p:spPr>
        </p:sp>
        <p:sp>
          <p:nvSpPr>
            <p:cNvPr name="TextBox 20" id="20"/>
            <p:cNvSpPr txBox="true"/>
            <p:nvPr/>
          </p:nvSpPr>
          <p:spPr>
            <a:xfrm>
              <a:off x="0" y="-47625"/>
              <a:ext cx="15870412" cy="27843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4. Multi-Source Visualization</a:t>
              </a:r>
            </a:p>
            <a:p>
              <a:pPr algn="ctr">
                <a:lnSpc>
                  <a:spcPts val="3078"/>
                </a:lnSpc>
              </a:pPr>
            </a:p>
            <a:p>
              <a:pPr algn="ctr">
                <a:lnSpc>
                  <a:spcPts val="3078"/>
                </a:lnSpc>
              </a:pPr>
              <a:r>
                <a:rPr lang="en-US" sz="2199">
                  <a:solidFill>
                    <a:srgbClr val="FFFFFF"/>
                  </a:solidFill>
                  <a:latin typeface="Mokoto"/>
                  <a:ea typeface="Mokoto"/>
                  <a:cs typeface="Mokoto"/>
                  <a:sym typeface="Mokoto"/>
                </a:rPr>
                <a:t>Highlights multiple source nodes and a single destination, useful for multi-user navigation systems.</a:t>
              </a:r>
            </a:p>
          </p:txBody>
        </p:sp>
      </p:grpSp>
      <p:sp>
        <p:nvSpPr>
          <p:cNvPr name="Freeform 21" id="21"/>
          <p:cNvSpPr/>
          <p:nvPr/>
        </p:nvSpPr>
        <p:spPr>
          <a:xfrm flipH="false" flipV="false" rot="0">
            <a:off x="3433857" y="3952964"/>
            <a:ext cx="11602034" cy="5278925"/>
          </a:xfrm>
          <a:custGeom>
            <a:avLst/>
            <a:gdLst/>
            <a:ahLst/>
            <a:cxnLst/>
            <a:rect r="r" b="b" t="t" l="l"/>
            <a:pathLst>
              <a:path h="5278925" w="11602034">
                <a:moveTo>
                  <a:pt x="0" y="0"/>
                </a:moveTo>
                <a:lnTo>
                  <a:pt x="11602034" y="0"/>
                </a:lnTo>
                <a:lnTo>
                  <a:pt x="11602034" y="5278925"/>
                </a:lnTo>
                <a:lnTo>
                  <a:pt x="0" y="5278925"/>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583059" y="1466616"/>
            <a:ext cx="9685592" cy="8208835"/>
            <a:chOff x="0" y="0"/>
            <a:chExt cx="12914122" cy="10945114"/>
          </a:xfrm>
        </p:grpSpPr>
        <p:sp>
          <p:nvSpPr>
            <p:cNvPr name="Freeform 19" id="19"/>
            <p:cNvSpPr/>
            <p:nvPr/>
          </p:nvSpPr>
          <p:spPr>
            <a:xfrm flipH="false" flipV="false" rot="0">
              <a:off x="0" y="0"/>
              <a:ext cx="12914122" cy="10945114"/>
            </a:xfrm>
            <a:custGeom>
              <a:avLst/>
              <a:gdLst/>
              <a:ahLst/>
              <a:cxnLst/>
              <a:rect r="r" b="b" t="t" l="l"/>
              <a:pathLst>
                <a:path h="10945114" w="12914122">
                  <a:moveTo>
                    <a:pt x="0" y="0"/>
                  </a:moveTo>
                  <a:lnTo>
                    <a:pt x="12914122" y="0"/>
                  </a:lnTo>
                  <a:lnTo>
                    <a:pt x="12914122" y="10945114"/>
                  </a:lnTo>
                  <a:lnTo>
                    <a:pt x="0" y="10945114"/>
                  </a:lnTo>
                  <a:lnTo>
                    <a:pt x="0" y="0"/>
                  </a:lnTo>
                  <a:close/>
                </a:path>
              </a:pathLst>
            </a:custGeom>
            <a:blipFill>
              <a:blip r:embed="rId10"/>
              <a:stretch>
                <a:fillRect l="0" t="0" r="0" b="0"/>
              </a:stretch>
            </a:blipFill>
          </p:spPr>
        </p:sp>
      </p:grpSp>
      <p:grpSp>
        <p:nvGrpSpPr>
          <p:cNvPr name="Group 20" id="20"/>
          <p:cNvGrpSpPr/>
          <p:nvPr/>
        </p:nvGrpSpPr>
        <p:grpSpPr>
          <a:xfrm rot="0">
            <a:off x="3133082" y="527287"/>
            <a:ext cx="11902809" cy="417989"/>
            <a:chOff x="0" y="0"/>
            <a:chExt cx="15870412" cy="557318"/>
          </a:xfrm>
        </p:grpSpPr>
        <p:sp>
          <p:nvSpPr>
            <p:cNvPr name="Freeform 21" id="21"/>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2" id="22"/>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output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242112" y="3838720"/>
            <a:ext cx="9803797" cy="5661660"/>
            <a:chOff x="0" y="0"/>
            <a:chExt cx="13071729" cy="7548880"/>
          </a:xfrm>
        </p:grpSpPr>
        <p:sp>
          <p:nvSpPr>
            <p:cNvPr name="Freeform 19" id="19"/>
            <p:cNvSpPr/>
            <p:nvPr/>
          </p:nvSpPr>
          <p:spPr>
            <a:xfrm flipH="false" flipV="false" rot="0">
              <a:off x="0" y="0"/>
              <a:ext cx="13071729" cy="7548880"/>
            </a:xfrm>
            <a:custGeom>
              <a:avLst/>
              <a:gdLst/>
              <a:ahLst/>
              <a:cxnLst/>
              <a:rect r="r" b="b" t="t" l="l"/>
              <a:pathLst>
                <a:path h="7548880" w="13071729">
                  <a:moveTo>
                    <a:pt x="0" y="0"/>
                  </a:moveTo>
                  <a:lnTo>
                    <a:pt x="13071729" y="0"/>
                  </a:lnTo>
                  <a:lnTo>
                    <a:pt x="13071729" y="7548880"/>
                  </a:lnTo>
                  <a:lnTo>
                    <a:pt x="0" y="7548880"/>
                  </a:lnTo>
                  <a:lnTo>
                    <a:pt x="0" y="0"/>
                  </a:lnTo>
                  <a:close/>
                </a:path>
              </a:pathLst>
            </a:custGeom>
            <a:blipFill>
              <a:blip r:embed="rId10"/>
              <a:stretch>
                <a:fillRect l="0" t="-11" r="0" b="-11"/>
              </a:stretch>
            </a:blipFill>
          </p:spPr>
        </p:sp>
      </p:grpSp>
      <p:grpSp>
        <p:nvGrpSpPr>
          <p:cNvPr name="Group 20" id="20"/>
          <p:cNvGrpSpPr/>
          <p:nvPr/>
        </p:nvGrpSpPr>
        <p:grpSpPr>
          <a:xfrm rot="0">
            <a:off x="3133082" y="1383272"/>
            <a:ext cx="11902809" cy="2052526"/>
            <a:chOff x="0" y="0"/>
            <a:chExt cx="15870412" cy="2736701"/>
          </a:xfrm>
        </p:grpSpPr>
        <p:sp>
          <p:nvSpPr>
            <p:cNvPr name="Freeform 21" id="21"/>
            <p:cNvSpPr/>
            <p:nvPr/>
          </p:nvSpPr>
          <p:spPr>
            <a:xfrm flipH="false" flipV="false" rot="0">
              <a:off x="0" y="0"/>
              <a:ext cx="15870413" cy="2736701"/>
            </a:xfrm>
            <a:custGeom>
              <a:avLst/>
              <a:gdLst/>
              <a:ahLst/>
              <a:cxnLst/>
              <a:rect r="r" b="b" t="t" l="l"/>
              <a:pathLst>
                <a:path h="2736701" w="15870413">
                  <a:moveTo>
                    <a:pt x="0" y="0"/>
                  </a:moveTo>
                  <a:lnTo>
                    <a:pt x="15870413" y="0"/>
                  </a:lnTo>
                  <a:lnTo>
                    <a:pt x="15870413" y="2736701"/>
                  </a:lnTo>
                  <a:lnTo>
                    <a:pt x="0" y="2736701"/>
                  </a:lnTo>
                  <a:close/>
                </a:path>
              </a:pathLst>
            </a:custGeom>
            <a:solidFill>
              <a:srgbClr val="000000">
                <a:alpha val="0"/>
              </a:srgbClr>
            </a:solidFill>
          </p:spPr>
        </p:sp>
        <p:sp>
          <p:nvSpPr>
            <p:cNvPr name="TextBox 22" id="22"/>
            <p:cNvSpPr txBox="true"/>
            <p:nvPr/>
          </p:nvSpPr>
          <p:spPr>
            <a:xfrm>
              <a:off x="0" y="-47625"/>
              <a:ext cx="15870412" cy="27843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5. Alternate Path Logic</a:t>
              </a:r>
            </a:p>
            <a:p>
              <a:pPr algn="ctr">
                <a:lnSpc>
                  <a:spcPts val="3078"/>
                </a:lnSpc>
              </a:pPr>
            </a:p>
            <a:p>
              <a:pPr algn="ctr">
                <a:lnSpc>
                  <a:spcPts val="3078"/>
                </a:lnSpc>
              </a:pPr>
              <a:r>
                <a:rPr lang="en-US" sz="2199">
                  <a:solidFill>
                    <a:srgbClr val="FFFFFF"/>
                  </a:solidFill>
                  <a:latin typeface="Mokoto"/>
                  <a:ea typeface="Mokoto"/>
                  <a:cs typeface="Mokoto"/>
                  <a:sym typeface="Mokoto"/>
                </a:rPr>
                <a:t>If any segment of the current path has congestion &gt; 0.4, an alternate low-traffic path is found using a filtered graph.</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472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5885227" y="1766253"/>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684672" y="8726578"/>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825154" y="1264584"/>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3141839" y="44824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589560" y="6596168"/>
            <a:ext cx="878300" cy="827246"/>
            <a:chOff x="0" y="0"/>
            <a:chExt cx="1171067" cy="1102995"/>
          </a:xfrm>
        </p:grpSpPr>
        <p:sp>
          <p:nvSpPr>
            <p:cNvPr name="Freeform 13" id="13"/>
            <p:cNvSpPr/>
            <p:nvPr/>
          </p:nvSpPr>
          <p:spPr>
            <a:xfrm flipH="false" flipV="false" rot="0">
              <a:off x="0" y="0"/>
              <a:ext cx="1171067" cy="1102995"/>
            </a:xfrm>
            <a:custGeom>
              <a:avLst/>
              <a:gdLst/>
              <a:ahLst/>
              <a:cxnLst/>
              <a:rect r="r" b="b" t="t" l="l"/>
              <a:pathLst>
                <a:path h="1102995" w="1171067">
                  <a:moveTo>
                    <a:pt x="0" y="0"/>
                  </a:moveTo>
                  <a:lnTo>
                    <a:pt x="1171067" y="0"/>
                  </a:lnTo>
                  <a:lnTo>
                    <a:pt x="1171067" y="1102995"/>
                  </a:lnTo>
                  <a:lnTo>
                    <a:pt x="0" y="1102995"/>
                  </a:lnTo>
                  <a:lnTo>
                    <a:pt x="0" y="0"/>
                  </a:lnTo>
                  <a:close/>
                </a:path>
              </a:pathLst>
            </a:custGeom>
            <a:blipFill>
              <a:blip r:embed="rId7"/>
              <a:stretch>
                <a:fillRect l="-60" t="0" r="-60" b="0"/>
              </a:stretch>
            </a:blipFill>
          </p:spPr>
        </p:sp>
      </p:grpSp>
      <p:grpSp>
        <p:nvGrpSpPr>
          <p:cNvPr name="Group 14" id="14"/>
          <p:cNvGrpSpPr/>
          <p:nvPr/>
        </p:nvGrpSpPr>
        <p:grpSpPr>
          <a:xfrm rot="0">
            <a:off x="16488949" y="6792823"/>
            <a:ext cx="1061466" cy="1017631"/>
            <a:chOff x="0" y="0"/>
            <a:chExt cx="1415288" cy="1356841"/>
          </a:xfrm>
        </p:grpSpPr>
        <p:sp>
          <p:nvSpPr>
            <p:cNvPr name="Freeform 15" id="15"/>
            <p:cNvSpPr/>
            <p:nvPr/>
          </p:nvSpPr>
          <p:spPr>
            <a:xfrm flipH="false" flipV="false" rot="0">
              <a:off x="0" y="0"/>
              <a:ext cx="1415288" cy="1356868"/>
            </a:xfrm>
            <a:custGeom>
              <a:avLst/>
              <a:gdLst/>
              <a:ahLst/>
              <a:cxnLst/>
              <a:rect r="r" b="b" t="t" l="l"/>
              <a:pathLst>
                <a:path h="1356868" w="1415288">
                  <a:moveTo>
                    <a:pt x="0" y="0"/>
                  </a:moveTo>
                  <a:lnTo>
                    <a:pt x="1415288" y="0"/>
                  </a:lnTo>
                  <a:lnTo>
                    <a:pt x="1415288" y="1356868"/>
                  </a:lnTo>
                  <a:lnTo>
                    <a:pt x="0" y="1356868"/>
                  </a:lnTo>
                  <a:lnTo>
                    <a:pt x="0" y="0"/>
                  </a:lnTo>
                  <a:close/>
                </a:path>
              </a:pathLst>
            </a:custGeom>
            <a:blipFill>
              <a:blip r:embed="rId8"/>
              <a:stretch>
                <a:fillRect l="0" t="-11932" r="0" b="-11930"/>
              </a:stretch>
            </a:blipFill>
          </p:spPr>
        </p:sp>
      </p:grpSp>
      <p:grpSp>
        <p:nvGrpSpPr>
          <p:cNvPr name="Group 16" id="16"/>
          <p:cNvGrpSpPr/>
          <p:nvPr/>
        </p:nvGrpSpPr>
        <p:grpSpPr>
          <a:xfrm rot="0">
            <a:off x="14551972" y="727072"/>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572109" y="3244947"/>
            <a:ext cx="3558964" cy="351949"/>
            <a:chOff x="0" y="0"/>
            <a:chExt cx="4745285" cy="469265"/>
          </a:xfrm>
        </p:grpSpPr>
        <p:sp>
          <p:nvSpPr>
            <p:cNvPr name="Freeform 19" id="19"/>
            <p:cNvSpPr/>
            <p:nvPr/>
          </p:nvSpPr>
          <p:spPr>
            <a:xfrm flipH="false" flipV="false" rot="0">
              <a:off x="0" y="0"/>
              <a:ext cx="4745285" cy="469265"/>
            </a:xfrm>
            <a:custGeom>
              <a:avLst/>
              <a:gdLst/>
              <a:ahLst/>
              <a:cxnLst/>
              <a:rect r="r" b="b" t="t" l="l"/>
              <a:pathLst>
                <a:path h="469265" w="4745285">
                  <a:moveTo>
                    <a:pt x="0" y="0"/>
                  </a:moveTo>
                  <a:lnTo>
                    <a:pt x="4745285" y="0"/>
                  </a:lnTo>
                  <a:lnTo>
                    <a:pt x="4745285" y="469265"/>
                  </a:lnTo>
                  <a:lnTo>
                    <a:pt x="0" y="469265"/>
                  </a:lnTo>
                  <a:close/>
                </a:path>
              </a:pathLst>
            </a:custGeom>
            <a:solidFill>
              <a:srgbClr val="000000">
                <a:alpha val="0"/>
              </a:srgbClr>
            </a:solidFill>
          </p:spPr>
        </p:sp>
        <p:sp>
          <p:nvSpPr>
            <p:cNvPr name="TextBox 20" id="20"/>
            <p:cNvSpPr txBox="true"/>
            <p:nvPr/>
          </p:nvSpPr>
          <p:spPr>
            <a:xfrm>
              <a:off x="0" y="-47625"/>
              <a:ext cx="4745285"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BFS</a:t>
              </a:r>
            </a:p>
          </p:txBody>
        </p:sp>
      </p:grpSp>
      <p:grpSp>
        <p:nvGrpSpPr>
          <p:cNvPr name="Group 21" id="21"/>
          <p:cNvGrpSpPr/>
          <p:nvPr/>
        </p:nvGrpSpPr>
        <p:grpSpPr>
          <a:xfrm rot="0">
            <a:off x="5814337" y="2646214"/>
            <a:ext cx="1074508" cy="600833"/>
            <a:chOff x="0" y="0"/>
            <a:chExt cx="1432677" cy="801111"/>
          </a:xfrm>
        </p:grpSpPr>
        <p:sp>
          <p:nvSpPr>
            <p:cNvPr name="Freeform 22" id="22"/>
            <p:cNvSpPr/>
            <p:nvPr/>
          </p:nvSpPr>
          <p:spPr>
            <a:xfrm flipH="false" flipV="false" rot="0">
              <a:off x="0" y="0"/>
              <a:ext cx="1432677" cy="801111"/>
            </a:xfrm>
            <a:custGeom>
              <a:avLst/>
              <a:gdLst/>
              <a:ahLst/>
              <a:cxnLst/>
              <a:rect r="r" b="b" t="t" l="l"/>
              <a:pathLst>
                <a:path h="801111" w="1432677">
                  <a:moveTo>
                    <a:pt x="0" y="0"/>
                  </a:moveTo>
                  <a:lnTo>
                    <a:pt x="1432677" y="0"/>
                  </a:lnTo>
                  <a:lnTo>
                    <a:pt x="1432677" y="801111"/>
                  </a:lnTo>
                  <a:lnTo>
                    <a:pt x="0" y="801111"/>
                  </a:lnTo>
                  <a:close/>
                </a:path>
              </a:pathLst>
            </a:custGeom>
            <a:solidFill>
              <a:srgbClr val="000000">
                <a:alpha val="0"/>
              </a:srgbClr>
            </a:solidFill>
          </p:spPr>
        </p:sp>
        <p:sp>
          <p:nvSpPr>
            <p:cNvPr name="TextBox 23" id="23"/>
            <p:cNvSpPr txBox="true"/>
            <p:nvPr/>
          </p:nvSpPr>
          <p:spPr>
            <a:xfrm>
              <a:off x="0" y="-66675"/>
              <a:ext cx="1432677" cy="867786"/>
            </a:xfrm>
            <a:prstGeom prst="rect">
              <a:avLst/>
            </a:prstGeom>
          </p:spPr>
          <p:txBody>
            <a:bodyPr anchor="t" rtlCol="false" tIns="0" lIns="0" bIns="0" rIns="0"/>
            <a:lstStyle/>
            <a:p>
              <a:pPr algn="ctr">
                <a:lnSpc>
                  <a:spcPts val="4542"/>
                </a:lnSpc>
              </a:pPr>
              <a:r>
                <a:rPr lang="en-US" sz="3244">
                  <a:solidFill>
                    <a:srgbClr val="FFFFFF"/>
                  </a:solidFill>
                  <a:latin typeface="Mokoto"/>
                  <a:ea typeface="Mokoto"/>
                  <a:cs typeface="Mokoto"/>
                  <a:sym typeface="Mokoto"/>
                </a:rPr>
                <a:t>01</a:t>
              </a:r>
            </a:p>
          </p:txBody>
        </p:sp>
      </p:grpSp>
      <p:grpSp>
        <p:nvGrpSpPr>
          <p:cNvPr name="Group 24" id="24"/>
          <p:cNvGrpSpPr/>
          <p:nvPr/>
        </p:nvGrpSpPr>
        <p:grpSpPr>
          <a:xfrm rot="0">
            <a:off x="11036792" y="3379249"/>
            <a:ext cx="3558964" cy="351949"/>
            <a:chOff x="0" y="0"/>
            <a:chExt cx="4745285" cy="469265"/>
          </a:xfrm>
        </p:grpSpPr>
        <p:sp>
          <p:nvSpPr>
            <p:cNvPr name="Freeform 25" id="25"/>
            <p:cNvSpPr/>
            <p:nvPr/>
          </p:nvSpPr>
          <p:spPr>
            <a:xfrm flipH="false" flipV="false" rot="0">
              <a:off x="0" y="0"/>
              <a:ext cx="4745285" cy="469265"/>
            </a:xfrm>
            <a:custGeom>
              <a:avLst/>
              <a:gdLst/>
              <a:ahLst/>
              <a:cxnLst/>
              <a:rect r="r" b="b" t="t" l="l"/>
              <a:pathLst>
                <a:path h="469265" w="4745285">
                  <a:moveTo>
                    <a:pt x="0" y="0"/>
                  </a:moveTo>
                  <a:lnTo>
                    <a:pt x="4745285" y="0"/>
                  </a:lnTo>
                  <a:lnTo>
                    <a:pt x="4745285" y="469265"/>
                  </a:lnTo>
                  <a:lnTo>
                    <a:pt x="0" y="469265"/>
                  </a:lnTo>
                  <a:close/>
                </a:path>
              </a:pathLst>
            </a:custGeom>
            <a:solidFill>
              <a:srgbClr val="000000">
                <a:alpha val="0"/>
              </a:srgbClr>
            </a:solidFill>
          </p:spPr>
        </p:sp>
        <p:sp>
          <p:nvSpPr>
            <p:cNvPr name="TextBox 26" id="26"/>
            <p:cNvSpPr txBox="true"/>
            <p:nvPr/>
          </p:nvSpPr>
          <p:spPr>
            <a:xfrm>
              <a:off x="0" y="-47625"/>
              <a:ext cx="4745285"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DFS</a:t>
              </a:r>
            </a:p>
          </p:txBody>
        </p:sp>
      </p:grpSp>
      <p:grpSp>
        <p:nvGrpSpPr>
          <p:cNvPr name="Group 27" id="27"/>
          <p:cNvGrpSpPr/>
          <p:nvPr/>
        </p:nvGrpSpPr>
        <p:grpSpPr>
          <a:xfrm rot="0">
            <a:off x="12279020" y="2646214"/>
            <a:ext cx="1074508" cy="600833"/>
            <a:chOff x="0" y="0"/>
            <a:chExt cx="1432677" cy="801111"/>
          </a:xfrm>
        </p:grpSpPr>
        <p:sp>
          <p:nvSpPr>
            <p:cNvPr name="Freeform 28" id="28"/>
            <p:cNvSpPr/>
            <p:nvPr/>
          </p:nvSpPr>
          <p:spPr>
            <a:xfrm flipH="false" flipV="false" rot="0">
              <a:off x="0" y="0"/>
              <a:ext cx="1432677" cy="801111"/>
            </a:xfrm>
            <a:custGeom>
              <a:avLst/>
              <a:gdLst/>
              <a:ahLst/>
              <a:cxnLst/>
              <a:rect r="r" b="b" t="t" l="l"/>
              <a:pathLst>
                <a:path h="801111" w="1432677">
                  <a:moveTo>
                    <a:pt x="0" y="0"/>
                  </a:moveTo>
                  <a:lnTo>
                    <a:pt x="1432677" y="0"/>
                  </a:lnTo>
                  <a:lnTo>
                    <a:pt x="1432677" y="801111"/>
                  </a:lnTo>
                  <a:lnTo>
                    <a:pt x="0" y="801111"/>
                  </a:lnTo>
                  <a:close/>
                </a:path>
              </a:pathLst>
            </a:custGeom>
            <a:solidFill>
              <a:srgbClr val="000000">
                <a:alpha val="0"/>
              </a:srgbClr>
            </a:solidFill>
          </p:spPr>
        </p:sp>
        <p:sp>
          <p:nvSpPr>
            <p:cNvPr name="TextBox 29" id="29"/>
            <p:cNvSpPr txBox="true"/>
            <p:nvPr/>
          </p:nvSpPr>
          <p:spPr>
            <a:xfrm>
              <a:off x="0" y="-66675"/>
              <a:ext cx="1432677" cy="867786"/>
            </a:xfrm>
            <a:prstGeom prst="rect">
              <a:avLst/>
            </a:prstGeom>
          </p:spPr>
          <p:txBody>
            <a:bodyPr anchor="t" rtlCol="false" tIns="0" lIns="0" bIns="0" rIns="0"/>
            <a:lstStyle/>
            <a:p>
              <a:pPr algn="ctr">
                <a:lnSpc>
                  <a:spcPts val="4542"/>
                </a:lnSpc>
              </a:pPr>
              <a:r>
                <a:rPr lang="en-US" sz="3244">
                  <a:solidFill>
                    <a:srgbClr val="FFFFFF"/>
                  </a:solidFill>
                  <a:latin typeface="Mokoto"/>
                  <a:ea typeface="Mokoto"/>
                  <a:cs typeface="Mokoto"/>
                  <a:sym typeface="Mokoto"/>
                </a:rPr>
                <a:t>02</a:t>
              </a:r>
            </a:p>
          </p:txBody>
        </p:sp>
      </p:grpSp>
      <p:grpSp>
        <p:nvGrpSpPr>
          <p:cNvPr name="Group 30" id="30"/>
          <p:cNvGrpSpPr/>
          <p:nvPr/>
        </p:nvGrpSpPr>
        <p:grpSpPr>
          <a:xfrm rot="0">
            <a:off x="5097517" y="748083"/>
            <a:ext cx="8535432" cy="1385398"/>
            <a:chOff x="0" y="0"/>
            <a:chExt cx="11380576" cy="1847198"/>
          </a:xfrm>
        </p:grpSpPr>
        <p:sp>
          <p:nvSpPr>
            <p:cNvPr name="Freeform 31" id="31"/>
            <p:cNvSpPr/>
            <p:nvPr/>
          </p:nvSpPr>
          <p:spPr>
            <a:xfrm flipH="false" flipV="false" rot="0">
              <a:off x="0" y="0"/>
              <a:ext cx="11380576" cy="1847198"/>
            </a:xfrm>
            <a:custGeom>
              <a:avLst/>
              <a:gdLst/>
              <a:ahLst/>
              <a:cxnLst/>
              <a:rect r="r" b="b" t="t" l="l"/>
              <a:pathLst>
                <a:path h="1847198" w="11380576">
                  <a:moveTo>
                    <a:pt x="0" y="0"/>
                  </a:moveTo>
                  <a:lnTo>
                    <a:pt x="11380576" y="0"/>
                  </a:lnTo>
                  <a:lnTo>
                    <a:pt x="11380576" y="1847198"/>
                  </a:lnTo>
                  <a:lnTo>
                    <a:pt x="0" y="1847198"/>
                  </a:lnTo>
                  <a:close/>
                </a:path>
              </a:pathLst>
            </a:custGeom>
            <a:solidFill>
              <a:srgbClr val="000000">
                <a:alpha val="0"/>
              </a:srgbClr>
            </a:solidFill>
          </p:spPr>
        </p:sp>
        <p:sp>
          <p:nvSpPr>
            <p:cNvPr name="TextBox 32" id="32"/>
            <p:cNvSpPr txBox="true"/>
            <p:nvPr/>
          </p:nvSpPr>
          <p:spPr>
            <a:xfrm>
              <a:off x="0" y="-28575"/>
              <a:ext cx="11380576" cy="1875773"/>
            </a:xfrm>
            <a:prstGeom prst="rect">
              <a:avLst/>
            </a:prstGeom>
          </p:spPr>
          <p:txBody>
            <a:bodyPr anchor="t" rtlCol="false" tIns="0" lIns="0" bIns="0" rIns="0"/>
            <a:lstStyle/>
            <a:p>
              <a:pPr algn="ctr">
                <a:lnSpc>
                  <a:spcPts val="5391"/>
                </a:lnSpc>
              </a:pPr>
              <a:r>
                <a:rPr lang="en-US" sz="4319">
                  <a:solidFill>
                    <a:srgbClr val="FFFFFF"/>
                  </a:solidFill>
                  <a:latin typeface="Mokoto"/>
                  <a:ea typeface="Mokoto"/>
                  <a:cs typeface="Mokoto"/>
                  <a:sym typeface="Mokoto"/>
                </a:rPr>
                <a:t>BASIC </a:t>
              </a:r>
            </a:p>
            <a:p>
              <a:pPr algn="ctr">
                <a:lnSpc>
                  <a:spcPts val="5391"/>
                </a:lnSpc>
              </a:pPr>
              <a:r>
                <a:rPr lang="en-US" sz="4319">
                  <a:solidFill>
                    <a:srgbClr val="FFFFFF"/>
                  </a:solidFill>
                  <a:latin typeface="Mokoto"/>
                  <a:ea typeface="Mokoto"/>
                  <a:cs typeface="Mokoto"/>
                  <a:sym typeface="Mokoto"/>
                </a:rPr>
                <a:t>ALGORITHMS</a:t>
              </a:r>
            </a:p>
          </p:txBody>
        </p:sp>
      </p:grpSp>
      <p:sp>
        <p:nvSpPr>
          <p:cNvPr name="Freeform 33" id="33"/>
          <p:cNvSpPr/>
          <p:nvPr/>
        </p:nvSpPr>
        <p:spPr>
          <a:xfrm flipH="false" flipV="false" rot="0">
            <a:off x="3419539" y="2994363"/>
            <a:ext cx="6024699" cy="6731048"/>
          </a:xfrm>
          <a:custGeom>
            <a:avLst/>
            <a:gdLst/>
            <a:ahLst/>
            <a:cxnLst/>
            <a:rect r="r" b="b" t="t" l="l"/>
            <a:pathLst>
              <a:path h="6731048" w="6024699">
                <a:moveTo>
                  <a:pt x="0" y="0"/>
                </a:moveTo>
                <a:lnTo>
                  <a:pt x="6024699" y="0"/>
                </a:lnTo>
                <a:lnTo>
                  <a:pt x="6024699" y="6731048"/>
                </a:lnTo>
                <a:lnTo>
                  <a:pt x="0" y="6731048"/>
                </a:lnTo>
                <a:lnTo>
                  <a:pt x="0" y="0"/>
                </a:lnTo>
                <a:close/>
              </a:path>
            </a:pathLst>
          </a:custGeom>
          <a:blipFill>
            <a:blip r:embed="rId10">
              <a:extLst>
                <a:ext uri="{96DAC541-7B7A-43D3-8B79-37D633B846F1}">
                  <asvg:svgBlip xmlns:asvg="http://schemas.microsoft.com/office/drawing/2016/SVG/main" r:embed="rId11"/>
                </a:ext>
              </a:extLst>
            </a:blip>
            <a:stretch>
              <a:fillRect l="-15" t="0" r="-15" b="0"/>
            </a:stretch>
          </a:blipFill>
        </p:spPr>
      </p:sp>
      <p:grpSp>
        <p:nvGrpSpPr>
          <p:cNvPr name="Group 34" id="34"/>
          <p:cNvGrpSpPr/>
          <p:nvPr/>
        </p:nvGrpSpPr>
        <p:grpSpPr>
          <a:xfrm rot="0">
            <a:off x="4107422" y="4924417"/>
            <a:ext cx="4648932" cy="3775134"/>
            <a:chOff x="0" y="0"/>
            <a:chExt cx="6198576" cy="5033512"/>
          </a:xfrm>
        </p:grpSpPr>
        <p:sp>
          <p:nvSpPr>
            <p:cNvPr name="Freeform 35" id="35"/>
            <p:cNvSpPr/>
            <p:nvPr/>
          </p:nvSpPr>
          <p:spPr>
            <a:xfrm flipH="false" flipV="false" rot="0">
              <a:off x="0" y="0"/>
              <a:ext cx="6198576" cy="5033512"/>
            </a:xfrm>
            <a:custGeom>
              <a:avLst/>
              <a:gdLst/>
              <a:ahLst/>
              <a:cxnLst/>
              <a:rect r="r" b="b" t="t" l="l"/>
              <a:pathLst>
                <a:path h="5033512" w="6198576">
                  <a:moveTo>
                    <a:pt x="0" y="0"/>
                  </a:moveTo>
                  <a:lnTo>
                    <a:pt x="6198576" y="0"/>
                  </a:lnTo>
                  <a:lnTo>
                    <a:pt x="6198576" y="5033512"/>
                  </a:lnTo>
                  <a:lnTo>
                    <a:pt x="0" y="5033512"/>
                  </a:lnTo>
                  <a:close/>
                </a:path>
              </a:pathLst>
            </a:custGeom>
            <a:solidFill>
              <a:srgbClr val="000000">
                <a:alpha val="0"/>
              </a:srgbClr>
            </a:solidFill>
          </p:spPr>
        </p:sp>
        <p:sp>
          <p:nvSpPr>
            <p:cNvPr name="TextBox 36" id="36"/>
            <p:cNvSpPr txBox="true"/>
            <p:nvPr/>
          </p:nvSpPr>
          <p:spPr>
            <a:xfrm>
              <a:off x="0" y="-47625"/>
              <a:ext cx="6198576" cy="5081137"/>
            </a:xfrm>
            <a:prstGeom prst="rect">
              <a:avLst/>
            </a:prstGeom>
          </p:spPr>
          <p:txBody>
            <a:bodyPr anchor="t" rtlCol="false" tIns="0" lIns="0" bIns="0" rIns="0"/>
            <a:lstStyle/>
            <a:p>
              <a:pPr algn="ctr">
                <a:lnSpc>
                  <a:spcPts val="3285"/>
                </a:lnSpc>
              </a:pPr>
              <a:r>
                <a:rPr lang="en-US" sz="2345">
                  <a:solidFill>
                    <a:srgbClr val="FFFFFF"/>
                  </a:solidFill>
                  <a:latin typeface="Montserrat"/>
                  <a:ea typeface="Montserrat"/>
                  <a:cs typeface="Montserrat"/>
                  <a:sym typeface="Montserrat"/>
                </a:rPr>
                <a:t>Breadth-First Search (BFS) explores the graph level by level, starting from the source node and visiting all its neighbors before moving to the next level. It uses a queue and is ideal for finding the shortest path in unweighted graphs.</a:t>
              </a:r>
            </a:p>
          </p:txBody>
        </p:sp>
      </p:grpSp>
      <p:sp>
        <p:nvSpPr>
          <p:cNvPr name="Freeform 37" id="37"/>
          <p:cNvSpPr/>
          <p:nvPr/>
        </p:nvSpPr>
        <p:spPr>
          <a:xfrm flipH="false" flipV="false" rot="0">
            <a:off x="9790795" y="2845292"/>
            <a:ext cx="6291555" cy="7029191"/>
          </a:xfrm>
          <a:custGeom>
            <a:avLst/>
            <a:gdLst/>
            <a:ahLst/>
            <a:cxnLst/>
            <a:rect r="r" b="b" t="t" l="l"/>
            <a:pathLst>
              <a:path h="7029191" w="6291555">
                <a:moveTo>
                  <a:pt x="0" y="0"/>
                </a:moveTo>
                <a:lnTo>
                  <a:pt x="6291555" y="0"/>
                </a:lnTo>
                <a:lnTo>
                  <a:pt x="6291555" y="7029191"/>
                </a:lnTo>
                <a:lnTo>
                  <a:pt x="0" y="7029191"/>
                </a:lnTo>
                <a:lnTo>
                  <a:pt x="0" y="0"/>
                </a:lnTo>
                <a:close/>
              </a:path>
            </a:pathLst>
          </a:custGeom>
          <a:blipFill>
            <a:blip r:embed="rId10">
              <a:extLst>
                <a:ext uri="{96DAC541-7B7A-43D3-8B79-37D633B846F1}">
                  <asvg:svgBlip xmlns:asvg="http://schemas.microsoft.com/office/drawing/2016/SVG/main" r:embed="rId11"/>
                </a:ext>
              </a:extLst>
            </a:blip>
            <a:stretch>
              <a:fillRect l="-33" t="0" r="-33" b="0"/>
            </a:stretch>
          </a:blipFill>
        </p:spPr>
      </p:sp>
      <p:grpSp>
        <p:nvGrpSpPr>
          <p:cNvPr name="Group 38" id="38"/>
          <p:cNvGrpSpPr/>
          <p:nvPr/>
        </p:nvGrpSpPr>
        <p:grpSpPr>
          <a:xfrm rot="0">
            <a:off x="10210494" y="5017491"/>
            <a:ext cx="5452157" cy="3948853"/>
            <a:chOff x="0" y="0"/>
            <a:chExt cx="7269543" cy="5265137"/>
          </a:xfrm>
        </p:grpSpPr>
        <p:sp>
          <p:nvSpPr>
            <p:cNvPr name="Freeform 39" id="39"/>
            <p:cNvSpPr/>
            <p:nvPr/>
          </p:nvSpPr>
          <p:spPr>
            <a:xfrm flipH="false" flipV="false" rot="0">
              <a:off x="0" y="0"/>
              <a:ext cx="7269542" cy="5265137"/>
            </a:xfrm>
            <a:custGeom>
              <a:avLst/>
              <a:gdLst/>
              <a:ahLst/>
              <a:cxnLst/>
              <a:rect r="r" b="b" t="t" l="l"/>
              <a:pathLst>
                <a:path h="5265137" w="7269542">
                  <a:moveTo>
                    <a:pt x="0" y="0"/>
                  </a:moveTo>
                  <a:lnTo>
                    <a:pt x="7269542" y="0"/>
                  </a:lnTo>
                  <a:lnTo>
                    <a:pt x="7269542" y="5265137"/>
                  </a:lnTo>
                  <a:lnTo>
                    <a:pt x="0" y="5265137"/>
                  </a:lnTo>
                  <a:close/>
                </a:path>
              </a:pathLst>
            </a:custGeom>
            <a:solidFill>
              <a:srgbClr val="000000">
                <a:alpha val="0"/>
              </a:srgbClr>
            </a:solidFill>
          </p:spPr>
        </p:sp>
        <p:sp>
          <p:nvSpPr>
            <p:cNvPr name="TextBox 40" id="40"/>
            <p:cNvSpPr txBox="true"/>
            <p:nvPr/>
          </p:nvSpPr>
          <p:spPr>
            <a:xfrm>
              <a:off x="0" y="-47625"/>
              <a:ext cx="7269543" cy="5312762"/>
            </a:xfrm>
            <a:prstGeom prst="rect">
              <a:avLst/>
            </a:prstGeom>
          </p:spPr>
          <p:txBody>
            <a:bodyPr anchor="t" rtlCol="false" tIns="0" lIns="0" bIns="0" rIns="0"/>
            <a:lstStyle/>
            <a:p>
              <a:pPr algn="ctr">
                <a:lnSpc>
                  <a:spcPts val="3425"/>
                </a:lnSpc>
              </a:pPr>
              <a:r>
                <a:rPr lang="en-US" sz="2444">
                  <a:solidFill>
                    <a:srgbClr val="FFFFFF"/>
                  </a:solidFill>
                  <a:latin typeface="Montserrat"/>
                  <a:ea typeface="Montserrat"/>
                  <a:cs typeface="Montserrat"/>
                  <a:sym typeface="Montserrat"/>
                </a:rPr>
                <a:t>Depth-First Search (DFS), on the other hand, explores as far as possible along a branch before backtracking, using a stack (or recursion). It dives deep into one path before exploring alternatives, making it useful for exhaustive searches or path existence checks.</a:t>
              </a:r>
            </a:p>
            <a:p>
              <a:pPr algn="ctr">
                <a:lnSpc>
                  <a:spcPts val="3425"/>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472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5885227" y="1766253"/>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726578"/>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825154" y="1264584"/>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3141839" y="44824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589560" y="6596168"/>
            <a:ext cx="878300" cy="827246"/>
            <a:chOff x="0" y="0"/>
            <a:chExt cx="1171067" cy="1102995"/>
          </a:xfrm>
        </p:grpSpPr>
        <p:sp>
          <p:nvSpPr>
            <p:cNvPr name="Freeform 13" id="13"/>
            <p:cNvSpPr/>
            <p:nvPr/>
          </p:nvSpPr>
          <p:spPr>
            <a:xfrm flipH="false" flipV="false" rot="0">
              <a:off x="0" y="0"/>
              <a:ext cx="1171067" cy="1102995"/>
            </a:xfrm>
            <a:custGeom>
              <a:avLst/>
              <a:gdLst/>
              <a:ahLst/>
              <a:cxnLst/>
              <a:rect r="r" b="b" t="t" l="l"/>
              <a:pathLst>
                <a:path h="1102995" w="1171067">
                  <a:moveTo>
                    <a:pt x="0" y="0"/>
                  </a:moveTo>
                  <a:lnTo>
                    <a:pt x="1171067" y="0"/>
                  </a:lnTo>
                  <a:lnTo>
                    <a:pt x="1171067" y="1102995"/>
                  </a:lnTo>
                  <a:lnTo>
                    <a:pt x="0" y="1102995"/>
                  </a:lnTo>
                  <a:lnTo>
                    <a:pt x="0" y="0"/>
                  </a:lnTo>
                  <a:close/>
                </a:path>
              </a:pathLst>
            </a:custGeom>
            <a:blipFill>
              <a:blip r:embed="rId7"/>
              <a:stretch>
                <a:fillRect l="-60" t="0" r="-60" b="0"/>
              </a:stretch>
            </a:blipFill>
          </p:spPr>
        </p:sp>
      </p:grpSp>
      <p:grpSp>
        <p:nvGrpSpPr>
          <p:cNvPr name="Group 14" id="14"/>
          <p:cNvGrpSpPr/>
          <p:nvPr/>
        </p:nvGrpSpPr>
        <p:grpSpPr>
          <a:xfrm rot="0">
            <a:off x="16784528" y="6596168"/>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551972" y="727072"/>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sp>
        <p:nvSpPr>
          <p:cNvPr name="Freeform 18" id="18"/>
          <p:cNvSpPr/>
          <p:nvPr/>
        </p:nvSpPr>
        <p:spPr>
          <a:xfrm flipH="false" flipV="false" rot="0">
            <a:off x="3427361" y="3021856"/>
            <a:ext cx="6024699" cy="6731048"/>
          </a:xfrm>
          <a:custGeom>
            <a:avLst/>
            <a:gdLst/>
            <a:ahLst/>
            <a:cxnLst/>
            <a:rect r="r" b="b" t="t" l="l"/>
            <a:pathLst>
              <a:path h="6731048" w="6024699">
                <a:moveTo>
                  <a:pt x="0" y="0"/>
                </a:moveTo>
                <a:lnTo>
                  <a:pt x="6024699" y="0"/>
                </a:lnTo>
                <a:lnTo>
                  <a:pt x="6024699" y="6731048"/>
                </a:lnTo>
                <a:lnTo>
                  <a:pt x="0" y="6731048"/>
                </a:lnTo>
                <a:lnTo>
                  <a:pt x="0" y="0"/>
                </a:lnTo>
                <a:close/>
              </a:path>
            </a:pathLst>
          </a:custGeom>
          <a:blipFill>
            <a:blip r:embed="rId10">
              <a:extLst>
                <a:ext uri="{96DAC541-7B7A-43D3-8B79-37D633B846F1}">
                  <asvg:svgBlip xmlns:asvg="http://schemas.microsoft.com/office/drawing/2016/SVG/main" r:embed="rId11"/>
                </a:ext>
              </a:extLst>
            </a:blip>
            <a:stretch>
              <a:fillRect l="-15" t="0" r="-15" b="0"/>
            </a:stretch>
          </a:blipFill>
        </p:spPr>
      </p:sp>
      <p:grpSp>
        <p:nvGrpSpPr>
          <p:cNvPr name="Group 19" id="19"/>
          <p:cNvGrpSpPr/>
          <p:nvPr/>
        </p:nvGrpSpPr>
        <p:grpSpPr>
          <a:xfrm rot="0">
            <a:off x="4521930" y="3420469"/>
            <a:ext cx="3959453" cy="351949"/>
            <a:chOff x="0" y="0"/>
            <a:chExt cx="5279271" cy="469265"/>
          </a:xfrm>
        </p:grpSpPr>
        <p:sp>
          <p:nvSpPr>
            <p:cNvPr name="Freeform 20" id="20"/>
            <p:cNvSpPr/>
            <p:nvPr/>
          </p:nvSpPr>
          <p:spPr>
            <a:xfrm flipH="false" flipV="false" rot="0">
              <a:off x="0" y="0"/>
              <a:ext cx="5279271" cy="469265"/>
            </a:xfrm>
            <a:custGeom>
              <a:avLst/>
              <a:gdLst/>
              <a:ahLst/>
              <a:cxnLst/>
              <a:rect r="r" b="b" t="t" l="l"/>
              <a:pathLst>
                <a:path h="469265" w="5279271">
                  <a:moveTo>
                    <a:pt x="0" y="0"/>
                  </a:moveTo>
                  <a:lnTo>
                    <a:pt x="5279271" y="0"/>
                  </a:lnTo>
                  <a:lnTo>
                    <a:pt x="5279271" y="469265"/>
                  </a:lnTo>
                  <a:lnTo>
                    <a:pt x="0" y="469265"/>
                  </a:lnTo>
                  <a:close/>
                </a:path>
              </a:pathLst>
            </a:custGeom>
            <a:solidFill>
              <a:srgbClr val="000000">
                <a:alpha val="0"/>
              </a:srgbClr>
            </a:solidFill>
          </p:spPr>
        </p:sp>
        <p:sp>
          <p:nvSpPr>
            <p:cNvPr name="TextBox 21" id="21"/>
            <p:cNvSpPr txBox="true"/>
            <p:nvPr/>
          </p:nvSpPr>
          <p:spPr>
            <a:xfrm>
              <a:off x="0" y="-47625"/>
              <a:ext cx="5279271"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Dijkstra’s Algorithm</a:t>
              </a:r>
            </a:p>
          </p:txBody>
        </p:sp>
      </p:grpSp>
      <p:grpSp>
        <p:nvGrpSpPr>
          <p:cNvPr name="Group 22" id="22"/>
          <p:cNvGrpSpPr/>
          <p:nvPr/>
        </p:nvGrpSpPr>
        <p:grpSpPr>
          <a:xfrm rot="0">
            <a:off x="5565447" y="2787671"/>
            <a:ext cx="1074508" cy="600833"/>
            <a:chOff x="0" y="0"/>
            <a:chExt cx="1432677" cy="801111"/>
          </a:xfrm>
        </p:grpSpPr>
        <p:sp>
          <p:nvSpPr>
            <p:cNvPr name="Freeform 23" id="23"/>
            <p:cNvSpPr/>
            <p:nvPr/>
          </p:nvSpPr>
          <p:spPr>
            <a:xfrm flipH="false" flipV="false" rot="0">
              <a:off x="0" y="0"/>
              <a:ext cx="1432677" cy="801111"/>
            </a:xfrm>
            <a:custGeom>
              <a:avLst/>
              <a:gdLst/>
              <a:ahLst/>
              <a:cxnLst/>
              <a:rect r="r" b="b" t="t" l="l"/>
              <a:pathLst>
                <a:path h="801111" w="1432677">
                  <a:moveTo>
                    <a:pt x="0" y="0"/>
                  </a:moveTo>
                  <a:lnTo>
                    <a:pt x="1432677" y="0"/>
                  </a:lnTo>
                  <a:lnTo>
                    <a:pt x="1432677" y="801111"/>
                  </a:lnTo>
                  <a:lnTo>
                    <a:pt x="0" y="801111"/>
                  </a:lnTo>
                  <a:close/>
                </a:path>
              </a:pathLst>
            </a:custGeom>
            <a:solidFill>
              <a:srgbClr val="000000">
                <a:alpha val="0"/>
              </a:srgbClr>
            </a:solidFill>
          </p:spPr>
        </p:sp>
        <p:sp>
          <p:nvSpPr>
            <p:cNvPr name="TextBox 24" id="24"/>
            <p:cNvSpPr txBox="true"/>
            <p:nvPr/>
          </p:nvSpPr>
          <p:spPr>
            <a:xfrm>
              <a:off x="0" y="-66675"/>
              <a:ext cx="1432677" cy="867786"/>
            </a:xfrm>
            <a:prstGeom prst="rect">
              <a:avLst/>
            </a:prstGeom>
          </p:spPr>
          <p:txBody>
            <a:bodyPr anchor="t" rtlCol="false" tIns="0" lIns="0" bIns="0" rIns="0"/>
            <a:lstStyle/>
            <a:p>
              <a:pPr algn="ctr">
                <a:lnSpc>
                  <a:spcPts val="4542"/>
                </a:lnSpc>
              </a:pPr>
              <a:r>
                <a:rPr lang="en-US" sz="3244">
                  <a:solidFill>
                    <a:srgbClr val="FFFFFF"/>
                  </a:solidFill>
                  <a:latin typeface="Mokoto"/>
                  <a:ea typeface="Mokoto"/>
                  <a:cs typeface="Mokoto"/>
                  <a:sym typeface="Mokoto"/>
                </a:rPr>
                <a:t>01</a:t>
              </a:r>
            </a:p>
          </p:txBody>
        </p:sp>
      </p:grpSp>
      <p:grpSp>
        <p:nvGrpSpPr>
          <p:cNvPr name="Group 25" id="25"/>
          <p:cNvGrpSpPr/>
          <p:nvPr/>
        </p:nvGrpSpPr>
        <p:grpSpPr>
          <a:xfrm rot="0">
            <a:off x="3983588" y="5076983"/>
            <a:ext cx="4912244" cy="3462894"/>
            <a:chOff x="0" y="0"/>
            <a:chExt cx="6549659" cy="4617192"/>
          </a:xfrm>
        </p:grpSpPr>
        <p:sp>
          <p:nvSpPr>
            <p:cNvPr name="Freeform 26" id="26"/>
            <p:cNvSpPr/>
            <p:nvPr/>
          </p:nvSpPr>
          <p:spPr>
            <a:xfrm flipH="false" flipV="false" rot="0">
              <a:off x="0" y="0"/>
              <a:ext cx="6549658" cy="4617192"/>
            </a:xfrm>
            <a:custGeom>
              <a:avLst/>
              <a:gdLst/>
              <a:ahLst/>
              <a:cxnLst/>
              <a:rect r="r" b="b" t="t" l="l"/>
              <a:pathLst>
                <a:path h="4617192" w="6549658">
                  <a:moveTo>
                    <a:pt x="0" y="0"/>
                  </a:moveTo>
                  <a:lnTo>
                    <a:pt x="6549658" y="0"/>
                  </a:lnTo>
                  <a:lnTo>
                    <a:pt x="6549658" y="4617192"/>
                  </a:lnTo>
                  <a:lnTo>
                    <a:pt x="0" y="4617192"/>
                  </a:lnTo>
                  <a:close/>
                </a:path>
              </a:pathLst>
            </a:custGeom>
            <a:solidFill>
              <a:srgbClr val="000000">
                <a:alpha val="0"/>
              </a:srgbClr>
            </a:solidFill>
          </p:spPr>
        </p:sp>
        <p:sp>
          <p:nvSpPr>
            <p:cNvPr name="TextBox 27" id="27"/>
            <p:cNvSpPr txBox="true"/>
            <p:nvPr/>
          </p:nvSpPr>
          <p:spPr>
            <a:xfrm>
              <a:off x="0" y="-47625"/>
              <a:ext cx="6549659" cy="4664817"/>
            </a:xfrm>
            <a:prstGeom prst="rect">
              <a:avLst/>
            </a:prstGeom>
          </p:spPr>
          <p:txBody>
            <a:bodyPr anchor="t" rtlCol="false" tIns="0" lIns="0" bIns="0" rIns="0"/>
            <a:lstStyle/>
            <a:p>
              <a:pPr algn="ctr">
                <a:lnSpc>
                  <a:spcPts val="2725"/>
                </a:lnSpc>
              </a:pPr>
              <a:r>
                <a:rPr lang="en-US" sz="1946">
                  <a:solidFill>
                    <a:srgbClr val="FFFFFF"/>
                  </a:solidFill>
                  <a:latin typeface="Montserrat"/>
                  <a:ea typeface="Montserrat"/>
                  <a:cs typeface="Montserrat"/>
                  <a:sym typeface="Montserrat"/>
                </a:rPr>
                <a:t>Dijkstra’s Algorithm is a popular pathfinding algorithm used to find the shortest path between nodes in a weighted graph. It systematically selects the node with the smallest known distance, updates its neighbors, and continues until the destination is reached. It guarantees the shortest path but can be slower as it checks all possible routes without prioritization.</a:t>
              </a:r>
            </a:p>
          </p:txBody>
        </p:sp>
      </p:grpSp>
      <p:grpSp>
        <p:nvGrpSpPr>
          <p:cNvPr name="Group 28" id="28"/>
          <p:cNvGrpSpPr/>
          <p:nvPr/>
        </p:nvGrpSpPr>
        <p:grpSpPr>
          <a:xfrm rot="0">
            <a:off x="11418485" y="3420469"/>
            <a:ext cx="3558964" cy="351949"/>
            <a:chOff x="0" y="0"/>
            <a:chExt cx="4745285" cy="469265"/>
          </a:xfrm>
        </p:grpSpPr>
        <p:sp>
          <p:nvSpPr>
            <p:cNvPr name="Freeform 29" id="29"/>
            <p:cNvSpPr/>
            <p:nvPr/>
          </p:nvSpPr>
          <p:spPr>
            <a:xfrm flipH="false" flipV="false" rot="0">
              <a:off x="0" y="0"/>
              <a:ext cx="4745285" cy="469265"/>
            </a:xfrm>
            <a:custGeom>
              <a:avLst/>
              <a:gdLst/>
              <a:ahLst/>
              <a:cxnLst/>
              <a:rect r="r" b="b" t="t" l="l"/>
              <a:pathLst>
                <a:path h="469265" w="4745285">
                  <a:moveTo>
                    <a:pt x="0" y="0"/>
                  </a:moveTo>
                  <a:lnTo>
                    <a:pt x="4745285" y="0"/>
                  </a:lnTo>
                  <a:lnTo>
                    <a:pt x="4745285" y="469265"/>
                  </a:lnTo>
                  <a:lnTo>
                    <a:pt x="0" y="469265"/>
                  </a:lnTo>
                  <a:close/>
                </a:path>
              </a:pathLst>
            </a:custGeom>
            <a:solidFill>
              <a:srgbClr val="000000">
                <a:alpha val="0"/>
              </a:srgbClr>
            </a:solidFill>
          </p:spPr>
        </p:sp>
        <p:sp>
          <p:nvSpPr>
            <p:cNvPr name="TextBox 30" id="30"/>
            <p:cNvSpPr txBox="true"/>
            <p:nvPr/>
          </p:nvSpPr>
          <p:spPr>
            <a:xfrm>
              <a:off x="0" y="-47625"/>
              <a:ext cx="4745285" cy="516890"/>
            </a:xfrm>
            <a:prstGeom prst="rect">
              <a:avLst/>
            </a:prstGeom>
          </p:spPr>
          <p:txBody>
            <a:bodyPr anchor="t" rtlCol="false" tIns="0" lIns="0" bIns="0" rIns="0"/>
            <a:lstStyle/>
            <a:p>
              <a:pPr algn="ctr">
                <a:lnSpc>
                  <a:spcPts val="2520"/>
                </a:lnSpc>
              </a:pPr>
              <a:r>
                <a:rPr lang="en-US" sz="1800">
                  <a:solidFill>
                    <a:srgbClr val="FFFFFF"/>
                  </a:solidFill>
                  <a:latin typeface="Mokoto"/>
                  <a:ea typeface="Mokoto"/>
                  <a:cs typeface="Mokoto"/>
                  <a:sym typeface="Mokoto"/>
                </a:rPr>
                <a:t>A (A-Star) Search*</a:t>
              </a:r>
            </a:p>
          </p:txBody>
        </p:sp>
      </p:grpSp>
      <p:grpSp>
        <p:nvGrpSpPr>
          <p:cNvPr name="Group 31" id="31"/>
          <p:cNvGrpSpPr/>
          <p:nvPr/>
        </p:nvGrpSpPr>
        <p:grpSpPr>
          <a:xfrm rot="0">
            <a:off x="12433251" y="2787671"/>
            <a:ext cx="1074508" cy="600833"/>
            <a:chOff x="0" y="0"/>
            <a:chExt cx="1432677" cy="801111"/>
          </a:xfrm>
        </p:grpSpPr>
        <p:sp>
          <p:nvSpPr>
            <p:cNvPr name="Freeform 32" id="32"/>
            <p:cNvSpPr/>
            <p:nvPr/>
          </p:nvSpPr>
          <p:spPr>
            <a:xfrm flipH="false" flipV="false" rot="0">
              <a:off x="0" y="0"/>
              <a:ext cx="1432677" cy="801111"/>
            </a:xfrm>
            <a:custGeom>
              <a:avLst/>
              <a:gdLst/>
              <a:ahLst/>
              <a:cxnLst/>
              <a:rect r="r" b="b" t="t" l="l"/>
              <a:pathLst>
                <a:path h="801111" w="1432677">
                  <a:moveTo>
                    <a:pt x="0" y="0"/>
                  </a:moveTo>
                  <a:lnTo>
                    <a:pt x="1432677" y="0"/>
                  </a:lnTo>
                  <a:lnTo>
                    <a:pt x="1432677" y="801111"/>
                  </a:lnTo>
                  <a:lnTo>
                    <a:pt x="0" y="801111"/>
                  </a:lnTo>
                  <a:close/>
                </a:path>
              </a:pathLst>
            </a:custGeom>
            <a:solidFill>
              <a:srgbClr val="000000">
                <a:alpha val="0"/>
              </a:srgbClr>
            </a:solidFill>
          </p:spPr>
        </p:sp>
        <p:sp>
          <p:nvSpPr>
            <p:cNvPr name="TextBox 33" id="33"/>
            <p:cNvSpPr txBox="true"/>
            <p:nvPr/>
          </p:nvSpPr>
          <p:spPr>
            <a:xfrm>
              <a:off x="0" y="-66675"/>
              <a:ext cx="1432677" cy="867786"/>
            </a:xfrm>
            <a:prstGeom prst="rect">
              <a:avLst/>
            </a:prstGeom>
          </p:spPr>
          <p:txBody>
            <a:bodyPr anchor="t" rtlCol="false" tIns="0" lIns="0" bIns="0" rIns="0"/>
            <a:lstStyle/>
            <a:p>
              <a:pPr algn="ctr">
                <a:lnSpc>
                  <a:spcPts val="4542"/>
                </a:lnSpc>
              </a:pPr>
              <a:r>
                <a:rPr lang="en-US" sz="3244">
                  <a:solidFill>
                    <a:srgbClr val="FFFFFF"/>
                  </a:solidFill>
                  <a:latin typeface="Mokoto"/>
                  <a:ea typeface="Mokoto"/>
                  <a:cs typeface="Mokoto"/>
                  <a:sym typeface="Mokoto"/>
                </a:rPr>
                <a:t>02</a:t>
              </a:r>
            </a:p>
          </p:txBody>
        </p:sp>
      </p:grpSp>
      <p:grpSp>
        <p:nvGrpSpPr>
          <p:cNvPr name="Group 34" id="34"/>
          <p:cNvGrpSpPr/>
          <p:nvPr/>
        </p:nvGrpSpPr>
        <p:grpSpPr>
          <a:xfrm rot="0">
            <a:off x="5097517" y="1019730"/>
            <a:ext cx="8535432" cy="1385398"/>
            <a:chOff x="0" y="0"/>
            <a:chExt cx="11380576" cy="1847198"/>
          </a:xfrm>
        </p:grpSpPr>
        <p:sp>
          <p:nvSpPr>
            <p:cNvPr name="Freeform 35" id="35"/>
            <p:cNvSpPr/>
            <p:nvPr/>
          </p:nvSpPr>
          <p:spPr>
            <a:xfrm flipH="false" flipV="false" rot="0">
              <a:off x="0" y="0"/>
              <a:ext cx="11380576" cy="1847198"/>
            </a:xfrm>
            <a:custGeom>
              <a:avLst/>
              <a:gdLst/>
              <a:ahLst/>
              <a:cxnLst/>
              <a:rect r="r" b="b" t="t" l="l"/>
              <a:pathLst>
                <a:path h="1847198" w="11380576">
                  <a:moveTo>
                    <a:pt x="0" y="0"/>
                  </a:moveTo>
                  <a:lnTo>
                    <a:pt x="11380576" y="0"/>
                  </a:lnTo>
                  <a:lnTo>
                    <a:pt x="11380576" y="1847198"/>
                  </a:lnTo>
                  <a:lnTo>
                    <a:pt x="0" y="1847198"/>
                  </a:lnTo>
                  <a:close/>
                </a:path>
              </a:pathLst>
            </a:custGeom>
            <a:solidFill>
              <a:srgbClr val="000000">
                <a:alpha val="0"/>
              </a:srgbClr>
            </a:solidFill>
          </p:spPr>
        </p:sp>
        <p:sp>
          <p:nvSpPr>
            <p:cNvPr name="TextBox 36" id="36"/>
            <p:cNvSpPr txBox="true"/>
            <p:nvPr/>
          </p:nvSpPr>
          <p:spPr>
            <a:xfrm>
              <a:off x="0" y="-28575"/>
              <a:ext cx="11380576" cy="1875773"/>
            </a:xfrm>
            <a:prstGeom prst="rect">
              <a:avLst/>
            </a:prstGeom>
          </p:spPr>
          <p:txBody>
            <a:bodyPr anchor="t" rtlCol="false" tIns="0" lIns="0" bIns="0" rIns="0"/>
            <a:lstStyle/>
            <a:p>
              <a:pPr algn="ctr">
                <a:lnSpc>
                  <a:spcPts val="5391"/>
                </a:lnSpc>
              </a:pPr>
              <a:r>
                <a:rPr lang="en-US" sz="4319">
                  <a:solidFill>
                    <a:srgbClr val="FFFFFF"/>
                  </a:solidFill>
                  <a:latin typeface="Mokoto"/>
                  <a:ea typeface="Mokoto"/>
                  <a:cs typeface="Mokoto"/>
                  <a:sym typeface="Mokoto"/>
                </a:rPr>
                <a:t>ADVANCED ALGORITHMS</a:t>
              </a:r>
            </a:p>
          </p:txBody>
        </p:sp>
      </p:grpSp>
      <p:sp>
        <p:nvSpPr>
          <p:cNvPr name="Freeform 37" id="37"/>
          <p:cNvSpPr/>
          <p:nvPr/>
        </p:nvSpPr>
        <p:spPr>
          <a:xfrm flipH="false" flipV="false" rot="0">
            <a:off x="10185618" y="3051641"/>
            <a:ext cx="6024699" cy="6731048"/>
          </a:xfrm>
          <a:custGeom>
            <a:avLst/>
            <a:gdLst/>
            <a:ahLst/>
            <a:cxnLst/>
            <a:rect r="r" b="b" t="t" l="l"/>
            <a:pathLst>
              <a:path h="6731048" w="6024699">
                <a:moveTo>
                  <a:pt x="0" y="0"/>
                </a:moveTo>
                <a:lnTo>
                  <a:pt x="6024699" y="0"/>
                </a:lnTo>
                <a:lnTo>
                  <a:pt x="6024699" y="6731048"/>
                </a:lnTo>
                <a:lnTo>
                  <a:pt x="0" y="6731048"/>
                </a:lnTo>
                <a:lnTo>
                  <a:pt x="0" y="0"/>
                </a:lnTo>
                <a:close/>
              </a:path>
            </a:pathLst>
          </a:custGeom>
          <a:blipFill>
            <a:blip r:embed="rId10">
              <a:extLst>
                <a:ext uri="{96DAC541-7B7A-43D3-8B79-37D633B846F1}">
                  <asvg:svgBlip xmlns:asvg="http://schemas.microsoft.com/office/drawing/2016/SVG/main" r:embed="rId11"/>
                </a:ext>
              </a:extLst>
            </a:blip>
            <a:stretch>
              <a:fillRect l="-15" t="0" r="-15" b="0"/>
            </a:stretch>
          </a:blipFill>
        </p:spPr>
      </p:sp>
      <p:grpSp>
        <p:nvGrpSpPr>
          <p:cNvPr name="Group 38" id="38"/>
          <p:cNvGrpSpPr/>
          <p:nvPr/>
        </p:nvGrpSpPr>
        <p:grpSpPr>
          <a:xfrm rot="0">
            <a:off x="10806354" y="5248433"/>
            <a:ext cx="4912244" cy="3119994"/>
            <a:chOff x="0" y="0"/>
            <a:chExt cx="6549659" cy="4159992"/>
          </a:xfrm>
        </p:grpSpPr>
        <p:sp>
          <p:nvSpPr>
            <p:cNvPr name="Freeform 39" id="39"/>
            <p:cNvSpPr/>
            <p:nvPr/>
          </p:nvSpPr>
          <p:spPr>
            <a:xfrm flipH="false" flipV="false" rot="0">
              <a:off x="0" y="0"/>
              <a:ext cx="6549658" cy="4159992"/>
            </a:xfrm>
            <a:custGeom>
              <a:avLst/>
              <a:gdLst/>
              <a:ahLst/>
              <a:cxnLst/>
              <a:rect r="r" b="b" t="t" l="l"/>
              <a:pathLst>
                <a:path h="4159992" w="6549658">
                  <a:moveTo>
                    <a:pt x="0" y="0"/>
                  </a:moveTo>
                  <a:lnTo>
                    <a:pt x="6549658" y="0"/>
                  </a:lnTo>
                  <a:lnTo>
                    <a:pt x="6549658" y="4159992"/>
                  </a:lnTo>
                  <a:lnTo>
                    <a:pt x="0" y="4159992"/>
                  </a:lnTo>
                  <a:close/>
                </a:path>
              </a:pathLst>
            </a:custGeom>
            <a:solidFill>
              <a:srgbClr val="000000">
                <a:alpha val="0"/>
              </a:srgbClr>
            </a:solidFill>
          </p:spPr>
        </p:sp>
        <p:sp>
          <p:nvSpPr>
            <p:cNvPr name="TextBox 40" id="40"/>
            <p:cNvSpPr txBox="true"/>
            <p:nvPr/>
          </p:nvSpPr>
          <p:spPr>
            <a:xfrm>
              <a:off x="0" y="-47625"/>
              <a:ext cx="6549659" cy="4207617"/>
            </a:xfrm>
            <a:prstGeom prst="rect">
              <a:avLst/>
            </a:prstGeom>
          </p:spPr>
          <p:txBody>
            <a:bodyPr anchor="t" rtlCol="false" tIns="0" lIns="0" bIns="0" rIns="0"/>
            <a:lstStyle/>
            <a:p>
              <a:pPr algn="ctr">
                <a:lnSpc>
                  <a:spcPts val="2725"/>
                </a:lnSpc>
              </a:pPr>
              <a:r>
                <a:rPr lang="en-US" sz="1946">
                  <a:solidFill>
                    <a:srgbClr val="FFFFFF"/>
                  </a:solidFill>
                  <a:latin typeface="Montserrat"/>
                  <a:ea typeface="Montserrat"/>
                  <a:cs typeface="Montserrat"/>
                  <a:sym typeface="Montserrat"/>
                </a:rPr>
                <a:t>A (A-Star) Search* builds on Dijkstra’s by adding a heuristic — an estimate of the remaining distance to the goal — to guide the search more intelligently. It balances actual cost from the start with estimated cost to the destination, making it faster and more efficient, especially in large or complex graphs.</a:t>
              </a:r>
            </a:p>
            <a:p>
              <a:pPr algn="ctr">
                <a:lnSpc>
                  <a:spcPts val="2725"/>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089916" y="4475649"/>
            <a:ext cx="11301222" cy="4619434"/>
            <a:chOff x="0" y="0"/>
            <a:chExt cx="15068296" cy="6159246"/>
          </a:xfrm>
        </p:grpSpPr>
        <p:sp>
          <p:nvSpPr>
            <p:cNvPr name="Freeform 19" id="19"/>
            <p:cNvSpPr/>
            <p:nvPr/>
          </p:nvSpPr>
          <p:spPr>
            <a:xfrm flipH="false" flipV="false" rot="0">
              <a:off x="0" y="0"/>
              <a:ext cx="15068296" cy="6159246"/>
            </a:xfrm>
            <a:custGeom>
              <a:avLst/>
              <a:gdLst/>
              <a:ahLst/>
              <a:cxnLst/>
              <a:rect r="r" b="b" t="t" l="l"/>
              <a:pathLst>
                <a:path h="6159246" w="15068296">
                  <a:moveTo>
                    <a:pt x="0" y="0"/>
                  </a:moveTo>
                  <a:lnTo>
                    <a:pt x="15068296" y="0"/>
                  </a:lnTo>
                  <a:lnTo>
                    <a:pt x="15068296" y="6159246"/>
                  </a:lnTo>
                  <a:lnTo>
                    <a:pt x="0" y="6159246"/>
                  </a:lnTo>
                  <a:lnTo>
                    <a:pt x="0" y="0"/>
                  </a:lnTo>
                  <a:close/>
                </a:path>
              </a:pathLst>
            </a:custGeom>
            <a:blipFill>
              <a:blip r:embed="rId10"/>
              <a:stretch>
                <a:fillRect l="-39" t="0" r="-39" b="0"/>
              </a:stretch>
            </a:blipFill>
          </p:spPr>
        </p:sp>
      </p:grpSp>
      <p:grpSp>
        <p:nvGrpSpPr>
          <p:cNvPr name="Group 20" id="20"/>
          <p:cNvGrpSpPr/>
          <p:nvPr/>
        </p:nvGrpSpPr>
        <p:grpSpPr>
          <a:xfrm rot="0">
            <a:off x="3133082" y="1599256"/>
            <a:ext cx="11902809" cy="2052526"/>
            <a:chOff x="0" y="0"/>
            <a:chExt cx="15870412" cy="2736701"/>
          </a:xfrm>
        </p:grpSpPr>
        <p:sp>
          <p:nvSpPr>
            <p:cNvPr name="Freeform 21" id="21"/>
            <p:cNvSpPr/>
            <p:nvPr/>
          </p:nvSpPr>
          <p:spPr>
            <a:xfrm flipH="false" flipV="false" rot="0">
              <a:off x="0" y="0"/>
              <a:ext cx="15870413" cy="2736701"/>
            </a:xfrm>
            <a:custGeom>
              <a:avLst/>
              <a:gdLst/>
              <a:ahLst/>
              <a:cxnLst/>
              <a:rect r="r" b="b" t="t" l="l"/>
              <a:pathLst>
                <a:path h="2736701" w="15870413">
                  <a:moveTo>
                    <a:pt x="0" y="0"/>
                  </a:moveTo>
                  <a:lnTo>
                    <a:pt x="15870413" y="0"/>
                  </a:lnTo>
                  <a:lnTo>
                    <a:pt x="15870413" y="2736701"/>
                  </a:lnTo>
                  <a:lnTo>
                    <a:pt x="0" y="2736701"/>
                  </a:lnTo>
                  <a:close/>
                </a:path>
              </a:pathLst>
            </a:custGeom>
            <a:solidFill>
              <a:srgbClr val="000000">
                <a:alpha val="0"/>
              </a:srgbClr>
            </a:solidFill>
          </p:spPr>
        </p:sp>
        <p:sp>
          <p:nvSpPr>
            <p:cNvPr name="TextBox 22" id="22"/>
            <p:cNvSpPr txBox="true"/>
            <p:nvPr/>
          </p:nvSpPr>
          <p:spPr>
            <a:xfrm>
              <a:off x="0" y="-47625"/>
              <a:ext cx="15870412" cy="27843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1. Breadth-First Search (BFS)</a:t>
              </a:r>
            </a:p>
            <a:p>
              <a:pPr algn="ctr">
                <a:lnSpc>
                  <a:spcPts val="3078"/>
                </a:lnSpc>
              </a:pPr>
            </a:p>
            <a:p>
              <a:pPr algn="ctr">
                <a:lnSpc>
                  <a:spcPts val="3078"/>
                </a:lnSpc>
              </a:pPr>
              <a:r>
                <a:rPr lang="en-US" sz="2199">
                  <a:solidFill>
                    <a:srgbClr val="FFFFFF"/>
                  </a:solidFill>
                  <a:latin typeface="Mokoto"/>
                  <a:ea typeface="Mokoto"/>
                  <a:cs typeface="Mokoto"/>
                  <a:sym typeface="Mokoto"/>
                </a:rPr>
                <a:t>Finds a pth by exploring all neighbors level-by-level. Doesn't consider weights, so it's not optimal for time.</a:t>
              </a:r>
            </a:p>
          </p:txBody>
        </p:sp>
      </p:grpSp>
      <p:sp>
        <p:nvSpPr>
          <p:cNvPr name="TextBox 23" id="23"/>
          <p:cNvSpPr txBox="true"/>
          <p:nvPr/>
        </p:nvSpPr>
        <p:spPr>
          <a:xfrm rot="0">
            <a:off x="4983273" y="752428"/>
            <a:ext cx="7978274" cy="539124"/>
          </a:xfrm>
          <a:prstGeom prst="rect">
            <a:avLst/>
          </a:prstGeom>
        </p:spPr>
        <p:txBody>
          <a:bodyPr anchor="t" rtlCol="false" tIns="0" lIns="0" bIns="0" rIns="0">
            <a:spAutoFit/>
          </a:bodyPr>
          <a:lstStyle/>
          <a:p>
            <a:pPr algn="ctr">
              <a:lnSpc>
                <a:spcPts val="4344"/>
              </a:lnSpc>
              <a:spcBef>
                <a:spcPct val="0"/>
              </a:spcBef>
            </a:pPr>
            <a:r>
              <a:rPr lang="en-US" sz="3103">
                <a:solidFill>
                  <a:srgbClr val="FFFFFF"/>
                </a:solidFill>
                <a:latin typeface="Mokoto"/>
                <a:ea typeface="Mokoto"/>
                <a:cs typeface="Mokoto"/>
                <a:sym typeface="Mokoto"/>
              </a:rPr>
              <a:t> Algorithms Used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748490" y="1028700"/>
            <a:ext cx="8791003" cy="8908733"/>
            <a:chOff x="0" y="0"/>
            <a:chExt cx="11721338" cy="11878310"/>
          </a:xfrm>
        </p:grpSpPr>
        <p:sp>
          <p:nvSpPr>
            <p:cNvPr name="Freeform 19" id="19"/>
            <p:cNvSpPr/>
            <p:nvPr/>
          </p:nvSpPr>
          <p:spPr>
            <a:xfrm flipH="false" flipV="false" rot="0">
              <a:off x="0" y="0"/>
              <a:ext cx="11721338" cy="11878310"/>
            </a:xfrm>
            <a:custGeom>
              <a:avLst/>
              <a:gdLst/>
              <a:ahLst/>
              <a:cxnLst/>
              <a:rect r="r" b="b" t="t" l="l"/>
              <a:pathLst>
                <a:path h="11878310" w="11721338">
                  <a:moveTo>
                    <a:pt x="0" y="0"/>
                  </a:moveTo>
                  <a:lnTo>
                    <a:pt x="11721338" y="0"/>
                  </a:lnTo>
                  <a:lnTo>
                    <a:pt x="11721338" y="11878310"/>
                  </a:lnTo>
                  <a:lnTo>
                    <a:pt x="0" y="11878310"/>
                  </a:lnTo>
                  <a:lnTo>
                    <a:pt x="0" y="0"/>
                  </a:lnTo>
                  <a:close/>
                </a:path>
              </a:pathLst>
            </a:custGeom>
            <a:blipFill>
              <a:blip r:embed="rId10"/>
              <a:stretch>
                <a:fillRect l="0" t="0" r="0" b="0"/>
              </a:stretch>
            </a:blipFill>
          </p:spPr>
        </p:sp>
      </p:grpSp>
      <p:grpSp>
        <p:nvGrpSpPr>
          <p:cNvPr name="Group 20" id="20"/>
          <p:cNvGrpSpPr/>
          <p:nvPr/>
        </p:nvGrpSpPr>
        <p:grpSpPr>
          <a:xfrm rot="0">
            <a:off x="3133082" y="527287"/>
            <a:ext cx="11902809" cy="417989"/>
            <a:chOff x="0" y="0"/>
            <a:chExt cx="15870412" cy="557318"/>
          </a:xfrm>
        </p:grpSpPr>
        <p:sp>
          <p:nvSpPr>
            <p:cNvPr name="Freeform 21" id="21"/>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2" id="22"/>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output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794146" y="3936179"/>
            <a:ext cx="11301222" cy="4605242"/>
            <a:chOff x="0" y="0"/>
            <a:chExt cx="15068296" cy="6140323"/>
          </a:xfrm>
        </p:grpSpPr>
        <p:sp>
          <p:nvSpPr>
            <p:cNvPr name="Freeform 19" id="19"/>
            <p:cNvSpPr/>
            <p:nvPr/>
          </p:nvSpPr>
          <p:spPr>
            <a:xfrm flipH="false" flipV="false" rot="0">
              <a:off x="0" y="0"/>
              <a:ext cx="15068296" cy="6140323"/>
            </a:xfrm>
            <a:custGeom>
              <a:avLst/>
              <a:gdLst/>
              <a:ahLst/>
              <a:cxnLst/>
              <a:rect r="r" b="b" t="t" l="l"/>
              <a:pathLst>
                <a:path h="6140323" w="15068296">
                  <a:moveTo>
                    <a:pt x="0" y="0"/>
                  </a:moveTo>
                  <a:lnTo>
                    <a:pt x="15068296" y="0"/>
                  </a:lnTo>
                  <a:lnTo>
                    <a:pt x="15068296" y="6140323"/>
                  </a:lnTo>
                  <a:lnTo>
                    <a:pt x="0" y="6140323"/>
                  </a:lnTo>
                  <a:lnTo>
                    <a:pt x="0" y="0"/>
                  </a:lnTo>
                  <a:close/>
                </a:path>
              </a:pathLst>
            </a:custGeom>
            <a:blipFill>
              <a:blip r:embed="rId10"/>
              <a:stretch>
                <a:fillRect l="0" t="-49" r="0" b="-49"/>
              </a:stretch>
            </a:blipFill>
          </p:spPr>
        </p:sp>
      </p:grpSp>
      <p:grpSp>
        <p:nvGrpSpPr>
          <p:cNvPr name="Group 20" id="20"/>
          <p:cNvGrpSpPr/>
          <p:nvPr/>
        </p:nvGrpSpPr>
        <p:grpSpPr>
          <a:xfrm rot="0">
            <a:off x="3202120" y="1770706"/>
            <a:ext cx="11902809" cy="1662001"/>
            <a:chOff x="0" y="0"/>
            <a:chExt cx="15870412" cy="2216001"/>
          </a:xfrm>
        </p:grpSpPr>
        <p:sp>
          <p:nvSpPr>
            <p:cNvPr name="Freeform 21" id="21"/>
            <p:cNvSpPr/>
            <p:nvPr/>
          </p:nvSpPr>
          <p:spPr>
            <a:xfrm flipH="false" flipV="false" rot="0">
              <a:off x="0" y="0"/>
              <a:ext cx="15870413" cy="2216001"/>
            </a:xfrm>
            <a:custGeom>
              <a:avLst/>
              <a:gdLst/>
              <a:ahLst/>
              <a:cxnLst/>
              <a:rect r="r" b="b" t="t" l="l"/>
              <a:pathLst>
                <a:path h="2216001" w="15870413">
                  <a:moveTo>
                    <a:pt x="0" y="0"/>
                  </a:moveTo>
                  <a:lnTo>
                    <a:pt x="15870413" y="0"/>
                  </a:lnTo>
                  <a:lnTo>
                    <a:pt x="15870413" y="2216001"/>
                  </a:lnTo>
                  <a:lnTo>
                    <a:pt x="0" y="2216001"/>
                  </a:lnTo>
                  <a:close/>
                </a:path>
              </a:pathLst>
            </a:custGeom>
            <a:solidFill>
              <a:srgbClr val="000000">
                <a:alpha val="0"/>
              </a:srgbClr>
            </a:solidFill>
          </p:spPr>
        </p:sp>
        <p:sp>
          <p:nvSpPr>
            <p:cNvPr name="TextBox 22" id="22"/>
            <p:cNvSpPr txBox="true"/>
            <p:nvPr/>
          </p:nvSpPr>
          <p:spPr>
            <a:xfrm>
              <a:off x="0" y="-47625"/>
              <a:ext cx="15870412" cy="22636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2. Dijkstra’s Algorithm optimization</a:t>
              </a:r>
            </a:p>
            <a:p>
              <a:pPr algn="ctr">
                <a:lnSpc>
                  <a:spcPts val="3078"/>
                </a:lnSpc>
              </a:pPr>
            </a:p>
            <a:p>
              <a:pPr algn="ctr">
                <a:lnSpc>
                  <a:spcPts val="3078"/>
                </a:lnSpc>
              </a:pPr>
              <a:r>
                <a:rPr lang="en-US" sz="2199">
                  <a:solidFill>
                    <a:srgbClr val="FFFFFF"/>
                  </a:solidFill>
                  <a:latin typeface="Mokoto"/>
                  <a:ea typeface="Mokoto"/>
                  <a:cs typeface="Mokoto"/>
                  <a:sym typeface="Mokoto"/>
                </a:rPr>
                <a:t>Finds the shortest-time path using a priority queue. Fully considers congestion-adjusted travel time.</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563683" y="1028700"/>
            <a:ext cx="9160669" cy="9092756"/>
            <a:chOff x="0" y="0"/>
            <a:chExt cx="12214225" cy="12123674"/>
          </a:xfrm>
        </p:grpSpPr>
        <p:sp>
          <p:nvSpPr>
            <p:cNvPr name="Freeform 19" id="19"/>
            <p:cNvSpPr/>
            <p:nvPr/>
          </p:nvSpPr>
          <p:spPr>
            <a:xfrm flipH="false" flipV="false" rot="0">
              <a:off x="0" y="0"/>
              <a:ext cx="12214225" cy="12123674"/>
            </a:xfrm>
            <a:custGeom>
              <a:avLst/>
              <a:gdLst/>
              <a:ahLst/>
              <a:cxnLst/>
              <a:rect r="r" b="b" t="t" l="l"/>
              <a:pathLst>
                <a:path h="12123674" w="12214225">
                  <a:moveTo>
                    <a:pt x="0" y="0"/>
                  </a:moveTo>
                  <a:lnTo>
                    <a:pt x="12214225" y="0"/>
                  </a:lnTo>
                  <a:lnTo>
                    <a:pt x="12214225" y="12123674"/>
                  </a:lnTo>
                  <a:lnTo>
                    <a:pt x="0" y="12123674"/>
                  </a:lnTo>
                  <a:lnTo>
                    <a:pt x="0" y="0"/>
                  </a:lnTo>
                  <a:close/>
                </a:path>
              </a:pathLst>
            </a:custGeom>
            <a:blipFill>
              <a:blip r:embed="rId10"/>
              <a:stretch>
                <a:fillRect l="0" t="0" r="0" b="0"/>
              </a:stretch>
            </a:blipFill>
          </p:spPr>
        </p:sp>
      </p:grpSp>
      <p:grpSp>
        <p:nvGrpSpPr>
          <p:cNvPr name="Group 20" id="20"/>
          <p:cNvGrpSpPr/>
          <p:nvPr/>
        </p:nvGrpSpPr>
        <p:grpSpPr>
          <a:xfrm rot="0">
            <a:off x="3133082" y="527287"/>
            <a:ext cx="11902809" cy="417989"/>
            <a:chOff x="0" y="0"/>
            <a:chExt cx="15870412" cy="557318"/>
          </a:xfrm>
        </p:grpSpPr>
        <p:sp>
          <p:nvSpPr>
            <p:cNvPr name="Freeform 21" id="21"/>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2" id="22"/>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output</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794146" y="4342252"/>
            <a:ext cx="11301222" cy="4916043"/>
            <a:chOff x="0" y="0"/>
            <a:chExt cx="15068296" cy="6554724"/>
          </a:xfrm>
        </p:grpSpPr>
        <p:sp>
          <p:nvSpPr>
            <p:cNvPr name="Freeform 19" id="19"/>
            <p:cNvSpPr/>
            <p:nvPr/>
          </p:nvSpPr>
          <p:spPr>
            <a:xfrm flipH="false" flipV="false" rot="0">
              <a:off x="0" y="0"/>
              <a:ext cx="15068296" cy="6554724"/>
            </a:xfrm>
            <a:custGeom>
              <a:avLst/>
              <a:gdLst/>
              <a:ahLst/>
              <a:cxnLst/>
              <a:rect r="r" b="b" t="t" l="l"/>
              <a:pathLst>
                <a:path h="6554724" w="15068296">
                  <a:moveTo>
                    <a:pt x="0" y="0"/>
                  </a:moveTo>
                  <a:lnTo>
                    <a:pt x="15068296" y="0"/>
                  </a:lnTo>
                  <a:lnTo>
                    <a:pt x="15068296" y="6554724"/>
                  </a:lnTo>
                  <a:lnTo>
                    <a:pt x="0" y="6554724"/>
                  </a:lnTo>
                  <a:lnTo>
                    <a:pt x="0" y="0"/>
                  </a:lnTo>
                  <a:close/>
                </a:path>
              </a:pathLst>
            </a:custGeom>
            <a:blipFill>
              <a:blip r:embed="rId10"/>
              <a:stretch>
                <a:fillRect l="0" t="-59" r="0" b="-59"/>
              </a:stretch>
            </a:blipFill>
          </p:spPr>
        </p:sp>
      </p:grpSp>
      <p:grpSp>
        <p:nvGrpSpPr>
          <p:cNvPr name="Group 20" id="20"/>
          <p:cNvGrpSpPr/>
          <p:nvPr/>
        </p:nvGrpSpPr>
        <p:grpSpPr>
          <a:xfrm rot="0">
            <a:off x="3202120" y="1829547"/>
            <a:ext cx="11902809" cy="2052526"/>
            <a:chOff x="0" y="0"/>
            <a:chExt cx="15870412" cy="2736701"/>
          </a:xfrm>
        </p:grpSpPr>
        <p:sp>
          <p:nvSpPr>
            <p:cNvPr name="Freeform 21" id="21"/>
            <p:cNvSpPr/>
            <p:nvPr/>
          </p:nvSpPr>
          <p:spPr>
            <a:xfrm flipH="false" flipV="false" rot="0">
              <a:off x="0" y="0"/>
              <a:ext cx="15870413" cy="2736701"/>
            </a:xfrm>
            <a:custGeom>
              <a:avLst/>
              <a:gdLst/>
              <a:ahLst/>
              <a:cxnLst/>
              <a:rect r="r" b="b" t="t" l="l"/>
              <a:pathLst>
                <a:path h="2736701" w="15870413">
                  <a:moveTo>
                    <a:pt x="0" y="0"/>
                  </a:moveTo>
                  <a:lnTo>
                    <a:pt x="15870413" y="0"/>
                  </a:lnTo>
                  <a:lnTo>
                    <a:pt x="15870413" y="2736701"/>
                  </a:lnTo>
                  <a:lnTo>
                    <a:pt x="0" y="2736701"/>
                  </a:lnTo>
                  <a:close/>
                </a:path>
              </a:pathLst>
            </a:custGeom>
            <a:solidFill>
              <a:srgbClr val="000000">
                <a:alpha val="0"/>
              </a:srgbClr>
            </a:solidFill>
          </p:spPr>
        </p:sp>
        <p:sp>
          <p:nvSpPr>
            <p:cNvPr name="TextBox 22" id="22"/>
            <p:cNvSpPr txBox="true"/>
            <p:nvPr/>
          </p:nvSpPr>
          <p:spPr>
            <a:xfrm>
              <a:off x="0" y="-47625"/>
              <a:ext cx="15870412" cy="27843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3. Depth-First Search (DFS)</a:t>
              </a:r>
            </a:p>
            <a:p>
              <a:pPr algn="ctr">
                <a:lnSpc>
                  <a:spcPts val="3078"/>
                </a:lnSpc>
              </a:pPr>
            </a:p>
            <a:p>
              <a:pPr algn="ctr">
                <a:lnSpc>
                  <a:spcPts val="3078"/>
                </a:lnSpc>
              </a:pPr>
              <a:r>
                <a:rPr lang="en-US" sz="2199">
                  <a:solidFill>
                    <a:srgbClr val="FFFFFF"/>
                  </a:solidFill>
                  <a:latin typeface="Mokoto"/>
                  <a:ea typeface="Mokoto"/>
                  <a:cs typeface="Mokoto"/>
                  <a:sym typeface="Mokoto"/>
                </a:rPr>
                <a:t>Searches deeply along each path before backtracking. Like BFS, it ignores time/cost optimization.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932412" y="1028700"/>
            <a:ext cx="8986837" cy="8973502"/>
            <a:chOff x="0" y="0"/>
            <a:chExt cx="11982450" cy="11964670"/>
          </a:xfrm>
        </p:grpSpPr>
        <p:sp>
          <p:nvSpPr>
            <p:cNvPr name="Freeform 19" id="19"/>
            <p:cNvSpPr/>
            <p:nvPr/>
          </p:nvSpPr>
          <p:spPr>
            <a:xfrm flipH="false" flipV="false" rot="0">
              <a:off x="0" y="0"/>
              <a:ext cx="11982450" cy="11964670"/>
            </a:xfrm>
            <a:custGeom>
              <a:avLst/>
              <a:gdLst/>
              <a:ahLst/>
              <a:cxnLst/>
              <a:rect r="r" b="b" t="t" l="l"/>
              <a:pathLst>
                <a:path h="11964670" w="11982450">
                  <a:moveTo>
                    <a:pt x="0" y="0"/>
                  </a:moveTo>
                  <a:lnTo>
                    <a:pt x="11982450" y="0"/>
                  </a:lnTo>
                  <a:lnTo>
                    <a:pt x="11982450" y="11964670"/>
                  </a:lnTo>
                  <a:lnTo>
                    <a:pt x="0" y="11964670"/>
                  </a:lnTo>
                  <a:lnTo>
                    <a:pt x="0" y="0"/>
                  </a:lnTo>
                  <a:close/>
                </a:path>
              </a:pathLst>
            </a:custGeom>
            <a:blipFill>
              <a:blip r:embed="rId10"/>
              <a:stretch>
                <a:fillRect l="0" t="0" r="0" b="0"/>
              </a:stretch>
            </a:blipFill>
          </p:spPr>
        </p:sp>
      </p:grpSp>
      <p:grpSp>
        <p:nvGrpSpPr>
          <p:cNvPr name="Group 20" id="20"/>
          <p:cNvGrpSpPr/>
          <p:nvPr/>
        </p:nvGrpSpPr>
        <p:grpSpPr>
          <a:xfrm rot="0">
            <a:off x="3133082" y="527287"/>
            <a:ext cx="11902809" cy="417989"/>
            <a:chOff x="0" y="0"/>
            <a:chExt cx="15870412" cy="557318"/>
          </a:xfrm>
        </p:grpSpPr>
        <p:sp>
          <p:nvSpPr>
            <p:cNvPr name="Freeform 21" id="21"/>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2" id="22"/>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output</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935915" y="3666126"/>
            <a:ext cx="11301222" cy="5834253"/>
            <a:chOff x="0" y="0"/>
            <a:chExt cx="15068296" cy="7779004"/>
          </a:xfrm>
        </p:grpSpPr>
        <p:sp>
          <p:nvSpPr>
            <p:cNvPr name="Freeform 19" id="19"/>
            <p:cNvSpPr/>
            <p:nvPr/>
          </p:nvSpPr>
          <p:spPr>
            <a:xfrm flipH="false" flipV="false" rot="0">
              <a:off x="0" y="0"/>
              <a:ext cx="15068296" cy="7779004"/>
            </a:xfrm>
            <a:custGeom>
              <a:avLst/>
              <a:gdLst/>
              <a:ahLst/>
              <a:cxnLst/>
              <a:rect r="r" b="b" t="t" l="l"/>
              <a:pathLst>
                <a:path h="7779004" w="15068296">
                  <a:moveTo>
                    <a:pt x="0" y="0"/>
                  </a:moveTo>
                  <a:lnTo>
                    <a:pt x="15068296" y="0"/>
                  </a:lnTo>
                  <a:lnTo>
                    <a:pt x="15068296" y="7779004"/>
                  </a:lnTo>
                  <a:lnTo>
                    <a:pt x="0" y="7779004"/>
                  </a:lnTo>
                  <a:lnTo>
                    <a:pt x="0" y="0"/>
                  </a:lnTo>
                  <a:close/>
                </a:path>
              </a:pathLst>
            </a:custGeom>
            <a:blipFill>
              <a:blip r:embed="rId10"/>
              <a:stretch>
                <a:fillRect l="0" t="-4" r="0" b="-4"/>
              </a:stretch>
            </a:blipFill>
          </p:spPr>
        </p:sp>
      </p:grpSp>
      <p:grpSp>
        <p:nvGrpSpPr>
          <p:cNvPr name="Group 20" id="20"/>
          <p:cNvGrpSpPr/>
          <p:nvPr/>
        </p:nvGrpSpPr>
        <p:grpSpPr>
          <a:xfrm rot="0">
            <a:off x="3493371" y="1645985"/>
            <a:ext cx="11902809" cy="1662001"/>
            <a:chOff x="0" y="0"/>
            <a:chExt cx="15870412" cy="2216001"/>
          </a:xfrm>
        </p:grpSpPr>
        <p:sp>
          <p:nvSpPr>
            <p:cNvPr name="Freeform 21" id="21"/>
            <p:cNvSpPr/>
            <p:nvPr/>
          </p:nvSpPr>
          <p:spPr>
            <a:xfrm flipH="false" flipV="false" rot="0">
              <a:off x="0" y="0"/>
              <a:ext cx="15870413" cy="2216001"/>
            </a:xfrm>
            <a:custGeom>
              <a:avLst/>
              <a:gdLst/>
              <a:ahLst/>
              <a:cxnLst/>
              <a:rect r="r" b="b" t="t" l="l"/>
              <a:pathLst>
                <a:path h="2216001" w="15870413">
                  <a:moveTo>
                    <a:pt x="0" y="0"/>
                  </a:moveTo>
                  <a:lnTo>
                    <a:pt x="15870413" y="0"/>
                  </a:lnTo>
                  <a:lnTo>
                    <a:pt x="15870413" y="2216001"/>
                  </a:lnTo>
                  <a:lnTo>
                    <a:pt x="0" y="2216001"/>
                  </a:lnTo>
                  <a:close/>
                </a:path>
              </a:pathLst>
            </a:custGeom>
            <a:solidFill>
              <a:srgbClr val="000000">
                <a:alpha val="0"/>
              </a:srgbClr>
            </a:solidFill>
          </p:spPr>
        </p:sp>
        <p:sp>
          <p:nvSpPr>
            <p:cNvPr name="TextBox 22" id="22"/>
            <p:cNvSpPr txBox="true"/>
            <p:nvPr/>
          </p:nvSpPr>
          <p:spPr>
            <a:xfrm>
              <a:off x="0" y="-47625"/>
              <a:ext cx="15870412" cy="2263626"/>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4. A Search Algorithm*</a:t>
              </a:r>
            </a:p>
            <a:p>
              <a:pPr algn="ctr">
                <a:lnSpc>
                  <a:spcPts val="3078"/>
                </a:lnSpc>
              </a:pPr>
            </a:p>
            <a:p>
              <a:pPr algn="ctr">
                <a:lnSpc>
                  <a:spcPts val="3078"/>
                </a:lnSpc>
              </a:pPr>
              <a:r>
                <a:rPr lang="en-US" sz="2199">
                  <a:solidFill>
                    <a:srgbClr val="FFFFFF"/>
                  </a:solidFill>
                  <a:latin typeface="Mokoto"/>
                  <a:ea typeface="Mokoto"/>
                  <a:cs typeface="Mokoto"/>
                  <a:sym typeface="Mokoto"/>
                </a:rPr>
                <a:t>Uses cost plus a heuristic to predict best path. Currently, the heuristic is zero (acts like Dijkstra).</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5118454" y="1028700"/>
            <a:ext cx="8798433" cy="8995410"/>
            <a:chOff x="0" y="0"/>
            <a:chExt cx="11731244" cy="11993880"/>
          </a:xfrm>
        </p:grpSpPr>
        <p:sp>
          <p:nvSpPr>
            <p:cNvPr name="Freeform 19" id="19"/>
            <p:cNvSpPr/>
            <p:nvPr/>
          </p:nvSpPr>
          <p:spPr>
            <a:xfrm flipH="false" flipV="false" rot="0">
              <a:off x="0" y="0"/>
              <a:ext cx="11731244" cy="11993880"/>
            </a:xfrm>
            <a:custGeom>
              <a:avLst/>
              <a:gdLst/>
              <a:ahLst/>
              <a:cxnLst/>
              <a:rect r="r" b="b" t="t" l="l"/>
              <a:pathLst>
                <a:path h="11993880" w="11731244">
                  <a:moveTo>
                    <a:pt x="0" y="0"/>
                  </a:moveTo>
                  <a:lnTo>
                    <a:pt x="11731244" y="0"/>
                  </a:lnTo>
                  <a:lnTo>
                    <a:pt x="11731244" y="11993880"/>
                  </a:lnTo>
                  <a:lnTo>
                    <a:pt x="0" y="11993880"/>
                  </a:lnTo>
                  <a:lnTo>
                    <a:pt x="0" y="0"/>
                  </a:lnTo>
                  <a:close/>
                </a:path>
              </a:pathLst>
            </a:custGeom>
            <a:blipFill>
              <a:blip r:embed="rId10"/>
              <a:stretch>
                <a:fillRect l="0" t="0" r="0" b="0"/>
              </a:stretch>
            </a:blipFill>
          </p:spPr>
        </p:sp>
      </p:grpSp>
      <p:grpSp>
        <p:nvGrpSpPr>
          <p:cNvPr name="Group 20" id="20"/>
          <p:cNvGrpSpPr/>
          <p:nvPr/>
        </p:nvGrpSpPr>
        <p:grpSpPr>
          <a:xfrm rot="0">
            <a:off x="3133082" y="527287"/>
            <a:ext cx="11902809" cy="417989"/>
            <a:chOff x="0" y="0"/>
            <a:chExt cx="15870412" cy="557318"/>
          </a:xfrm>
        </p:grpSpPr>
        <p:sp>
          <p:nvSpPr>
            <p:cNvPr name="Freeform 21" id="21"/>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2" id="22"/>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output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4811696"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4002285" y="3315970"/>
            <a:ext cx="10466547" cy="6829425"/>
            <a:chOff x="0" y="0"/>
            <a:chExt cx="13955395" cy="9105900"/>
          </a:xfrm>
        </p:grpSpPr>
        <p:sp>
          <p:nvSpPr>
            <p:cNvPr name="Freeform 19" id="19"/>
            <p:cNvSpPr/>
            <p:nvPr/>
          </p:nvSpPr>
          <p:spPr>
            <a:xfrm flipH="false" flipV="false" rot="0">
              <a:off x="0" y="0"/>
              <a:ext cx="13955395" cy="9105900"/>
            </a:xfrm>
            <a:custGeom>
              <a:avLst/>
              <a:gdLst/>
              <a:ahLst/>
              <a:cxnLst/>
              <a:rect r="r" b="b" t="t" l="l"/>
              <a:pathLst>
                <a:path h="9105900" w="13955395">
                  <a:moveTo>
                    <a:pt x="0" y="0"/>
                  </a:moveTo>
                  <a:lnTo>
                    <a:pt x="13955395" y="0"/>
                  </a:lnTo>
                  <a:lnTo>
                    <a:pt x="13955395" y="9105900"/>
                  </a:lnTo>
                  <a:lnTo>
                    <a:pt x="0" y="9105900"/>
                  </a:lnTo>
                  <a:lnTo>
                    <a:pt x="0" y="0"/>
                  </a:lnTo>
                  <a:close/>
                </a:path>
              </a:pathLst>
            </a:custGeom>
            <a:blipFill>
              <a:blip r:embed="rId10"/>
              <a:stretch>
                <a:fillRect l="-19" t="0" r="-19" b="0"/>
              </a:stretch>
            </a:blipFill>
          </p:spPr>
        </p:sp>
      </p:grpSp>
      <p:grpSp>
        <p:nvGrpSpPr>
          <p:cNvPr name="Group 20" id="20"/>
          <p:cNvGrpSpPr/>
          <p:nvPr/>
        </p:nvGrpSpPr>
        <p:grpSpPr>
          <a:xfrm rot="0">
            <a:off x="3192595" y="945356"/>
            <a:ext cx="11902809" cy="2407459"/>
            <a:chOff x="0" y="0"/>
            <a:chExt cx="15870412" cy="3209945"/>
          </a:xfrm>
        </p:grpSpPr>
        <p:sp>
          <p:nvSpPr>
            <p:cNvPr name="Freeform 21" id="21"/>
            <p:cNvSpPr/>
            <p:nvPr/>
          </p:nvSpPr>
          <p:spPr>
            <a:xfrm flipH="false" flipV="false" rot="0">
              <a:off x="0" y="0"/>
              <a:ext cx="15870413" cy="3209945"/>
            </a:xfrm>
            <a:custGeom>
              <a:avLst/>
              <a:gdLst/>
              <a:ahLst/>
              <a:cxnLst/>
              <a:rect r="r" b="b" t="t" l="l"/>
              <a:pathLst>
                <a:path h="3209945" w="15870413">
                  <a:moveTo>
                    <a:pt x="0" y="0"/>
                  </a:moveTo>
                  <a:lnTo>
                    <a:pt x="15870413" y="0"/>
                  </a:lnTo>
                  <a:lnTo>
                    <a:pt x="15870413" y="3209945"/>
                  </a:lnTo>
                  <a:lnTo>
                    <a:pt x="0" y="3209945"/>
                  </a:lnTo>
                  <a:close/>
                </a:path>
              </a:pathLst>
            </a:custGeom>
            <a:solidFill>
              <a:srgbClr val="000000">
                <a:alpha val="0"/>
              </a:srgbClr>
            </a:solidFill>
          </p:spPr>
        </p:sp>
        <p:sp>
          <p:nvSpPr>
            <p:cNvPr name="TextBox 22" id="22"/>
            <p:cNvSpPr txBox="true"/>
            <p:nvPr/>
          </p:nvSpPr>
          <p:spPr>
            <a:xfrm>
              <a:off x="0" y="-47625"/>
              <a:ext cx="15870412" cy="3257570"/>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6</a:t>
              </a:r>
              <a:r>
                <a:rPr lang="en-US" sz="2199">
                  <a:solidFill>
                    <a:srgbClr val="FFFFFF"/>
                  </a:solidFill>
                  <a:latin typeface="Mokoto"/>
                  <a:ea typeface="Mokoto"/>
                  <a:cs typeface="Mokoto"/>
                  <a:sym typeface="Mokoto"/>
                </a:rPr>
                <a:t>. Flask Integration</a:t>
              </a:r>
            </a:p>
            <a:p>
              <a:pPr algn="ctr">
                <a:lnSpc>
                  <a:spcPts val="3078"/>
                </a:lnSpc>
              </a:pPr>
            </a:p>
            <a:p>
              <a:pPr algn="ctr">
                <a:lnSpc>
                  <a:spcPts val="3078"/>
                </a:lnSpc>
              </a:pPr>
              <a:r>
                <a:rPr lang="en-US" sz="2199">
                  <a:solidFill>
                    <a:srgbClr val="FFFFFF"/>
                  </a:solidFill>
                  <a:latin typeface="Mokoto"/>
                  <a:ea typeface="Mokoto"/>
                  <a:cs typeface="Mokoto"/>
                  <a:sym typeface="Mokoto"/>
                </a:rPr>
                <a:t>This Flask route processes the start and goal locations, calls the pathfinding algorithms (BFS, DFS, Dijkstra, A*), visualizes the paths, and returns the results to the user.</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5469087"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566278" y="1048627"/>
            <a:ext cx="11902809" cy="417989"/>
            <a:chOff x="0" y="0"/>
            <a:chExt cx="15870412" cy="557318"/>
          </a:xfrm>
        </p:grpSpPr>
        <p:sp>
          <p:nvSpPr>
            <p:cNvPr name="Freeform 19" id="19"/>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0" id="20"/>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Comparison of Routing Algorithms: Best Performance</a:t>
              </a:r>
            </a:p>
          </p:txBody>
        </p:sp>
      </p:grpSp>
      <p:grpSp>
        <p:nvGrpSpPr>
          <p:cNvPr name="Group 21" id="21"/>
          <p:cNvGrpSpPr/>
          <p:nvPr/>
        </p:nvGrpSpPr>
        <p:grpSpPr>
          <a:xfrm rot="0">
            <a:off x="3164268" y="2050137"/>
            <a:ext cx="11959463" cy="808347"/>
            <a:chOff x="0" y="0"/>
            <a:chExt cx="15945951" cy="1077796"/>
          </a:xfrm>
        </p:grpSpPr>
        <p:sp>
          <p:nvSpPr>
            <p:cNvPr name="Freeform 22" id="22"/>
            <p:cNvSpPr/>
            <p:nvPr/>
          </p:nvSpPr>
          <p:spPr>
            <a:xfrm flipH="false" flipV="false" rot="0">
              <a:off x="0" y="0"/>
              <a:ext cx="15945951" cy="1077796"/>
            </a:xfrm>
            <a:custGeom>
              <a:avLst/>
              <a:gdLst/>
              <a:ahLst/>
              <a:cxnLst/>
              <a:rect r="r" b="b" t="t" l="l"/>
              <a:pathLst>
                <a:path h="1077796" w="15945951">
                  <a:moveTo>
                    <a:pt x="0" y="0"/>
                  </a:moveTo>
                  <a:lnTo>
                    <a:pt x="15945951" y="0"/>
                  </a:lnTo>
                  <a:lnTo>
                    <a:pt x="15945951" y="1077796"/>
                  </a:lnTo>
                  <a:lnTo>
                    <a:pt x="0" y="1077796"/>
                  </a:lnTo>
                  <a:close/>
                </a:path>
              </a:pathLst>
            </a:custGeom>
            <a:solidFill>
              <a:srgbClr val="000000">
                <a:alpha val="0"/>
              </a:srgbClr>
            </a:solidFill>
          </p:spPr>
        </p:sp>
        <p:sp>
          <p:nvSpPr>
            <p:cNvPr name="TextBox 23" id="23"/>
            <p:cNvSpPr txBox="true"/>
            <p:nvPr/>
          </p:nvSpPr>
          <p:spPr>
            <a:xfrm>
              <a:off x="0" y="-47625"/>
              <a:ext cx="15945951" cy="1125421"/>
            </a:xfrm>
            <a:prstGeom prst="rect">
              <a:avLst/>
            </a:prstGeom>
          </p:spPr>
          <p:txBody>
            <a:bodyPr anchor="t" rtlCol="false" tIns="0" lIns="0" bIns="0" rIns="0"/>
            <a:lstStyle/>
            <a:p>
              <a:pPr algn="ctr">
                <a:lnSpc>
                  <a:spcPts val="3089"/>
                </a:lnSpc>
              </a:pPr>
              <a:r>
                <a:rPr lang="en-US" sz="2206">
                  <a:solidFill>
                    <a:srgbClr val="FFFFFF"/>
                  </a:solidFill>
                  <a:latin typeface="Mokoto"/>
                  <a:ea typeface="Mokoto"/>
                  <a:cs typeface="Mokoto"/>
                  <a:sym typeface="Mokoto"/>
                </a:rPr>
                <a:t>The clear winner here is Dijkstra’s algorithm and by extension A* since its heuristic is zero. </a:t>
              </a:r>
            </a:p>
          </p:txBody>
        </p:sp>
      </p:grpSp>
      <p:grpSp>
        <p:nvGrpSpPr>
          <p:cNvPr name="Group 24" id="24"/>
          <p:cNvGrpSpPr/>
          <p:nvPr/>
        </p:nvGrpSpPr>
        <p:grpSpPr>
          <a:xfrm rot="0">
            <a:off x="2699886" y="3341648"/>
            <a:ext cx="12769202" cy="5753391"/>
            <a:chOff x="0" y="0"/>
            <a:chExt cx="17025603" cy="7671188"/>
          </a:xfrm>
        </p:grpSpPr>
        <p:sp>
          <p:nvSpPr>
            <p:cNvPr name="Freeform 25" id="25"/>
            <p:cNvSpPr/>
            <p:nvPr/>
          </p:nvSpPr>
          <p:spPr>
            <a:xfrm flipH="false" flipV="false" rot="0">
              <a:off x="0" y="0"/>
              <a:ext cx="17025603" cy="7671188"/>
            </a:xfrm>
            <a:custGeom>
              <a:avLst/>
              <a:gdLst/>
              <a:ahLst/>
              <a:cxnLst/>
              <a:rect r="r" b="b" t="t" l="l"/>
              <a:pathLst>
                <a:path h="7671188" w="17025603">
                  <a:moveTo>
                    <a:pt x="0" y="0"/>
                  </a:moveTo>
                  <a:lnTo>
                    <a:pt x="17025603" y="0"/>
                  </a:lnTo>
                  <a:lnTo>
                    <a:pt x="17025603" y="7671188"/>
                  </a:lnTo>
                  <a:lnTo>
                    <a:pt x="0" y="7671188"/>
                  </a:lnTo>
                  <a:close/>
                </a:path>
              </a:pathLst>
            </a:custGeom>
            <a:solidFill>
              <a:srgbClr val="000000">
                <a:alpha val="0"/>
              </a:srgbClr>
            </a:solidFill>
          </p:spPr>
        </p:sp>
        <p:sp>
          <p:nvSpPr>
            <p:cNvPr name="TextBox 26" id="26"/>
            <p:cNvSpPr txBox="true"/>
            <p:nvPr/>
          </p:nvSpPr>
          <p:spPr>
            <a:xfrm>
              <a:off x="0" y="-47625"/>
              <a:ext cx="17025603" cy="7718813"/>
            </a:xfrm>
            <a:prstGeom prst="rect">
              <a:avLst/>
            </a:prstGeom>
          </p:spPr>
          <p:txBody>
            <a:bodyPr anchor="t" rtlCol="false" tIns="0" lIns="0" bIns="0" rIns="0"/>
            <a:lstStyle/>
            <a:p>
              <a:pPr algn="ctr">
                <a:lnSpc>
                  <a:spcPts val="3000"/>
                </a:lnSpc>
              </a:pPr>
              <a:r>
                <a:rPr lang="en-US" sz="2144">
                  <a:solidFill>
                    <a:srgbClr val="FFFFFF"/>
                  </a:solidFill>
                  <a:latin typeface="Mokoto"/>
                  <a:ea typeface="Mokoto"/>
                  <a:cs typeface="Mokoto"/>
                  <a:sym typeface="Mokoto"/>
                </a:rPr>
                <a:t>1- Considers True Travel Time</a:t>
              </a:r>
            </a:p>
            <a:p>
              <a:pPr algn="ctr" marL="585478" indent="-146369" lvl="3">
                <a:lnSpc>
                  <a:spcPts val="3000"/>
                </a:lnSpc>
                <a:buFont typeface="Arial"/>
                <a:buChar char="￭"/>
              </a:pPr>
              <a:r>
                <a:rPr lang="en-US" sz="2144">
                  <a:solidFill>
                    <a:srgbClr val="FFFFFF"/>
                  </a:solidFill>
                  <a:latin typeface="Mokoto"/>
                  <a:ea typeface="Mokoto"/>
                  <a:cs typeface="Mokoto"/>
                  <a:sym typeface="Mokoto"/>
                </a:rPr>
                <a:t>BFS and DFS ignore edge weights (they treat every step as equal), so they both returned a 28 min route even though faster routes exist.</a:t>
              </a:r>
            </a:p>
            <a:p>
              <a:pPr algn="ctr" marL="585478" indent="-146369" lvl="3">
                <a:lnSpc>
                  <a:spcPts val="3000"/>
                </a:lnSpc>
                <a:buFont typeface="Arial"/>
                <a:buChar char="￭"/>
              </a:pPr>
              <a:r>
                <a:rPr lang="en-US" sz="2144">
                  <a:solidFill>
                    <a:srgbClr val="FFFFFF"/>
                  </a:solidFill>
                  <a:latin typeface="Mokoto"/>
                  <a:ea typeface="Mokoto"/>
                  <a:cs typeface="Mokoto"/>
                  <a:sym typeface="Mokoto"/>
                </a:rPr>
                <a:t>Dijkstra and A* explicitly use the congestion‑adjusted travel‑time weights, yielding the true shortest‑time path of 25.8 min.</a:t>
              </a:r>
            </a:p>
            <a:p>
              <a:pPr algn="ctr" marL="585478" indent="-146369" lvl="3">
                <a:lnSpc>
                  <a:spcPts val="3000"/>
                </a:lnSpc>
              </a:pPr>
            </a:p>
            <a:p>
              <a:pPr algn="ctr" marL="585478" indent="-146369" lvl="3">
                <a:lnSpc>
                  <a:spcPts val="3000"/>
                </a:lnSpc>
              </a:pPr>
              <a:r>
                <a:rPr lang="en-US" sz="2144">
                  <a:solidFill>
                    <a:srgbClr val="FFFFFF"/>
                  </a:solidFill>
                  <a:latin typeface="Mokoto"/>
                  <a:ea typeface="Mokoto"/>
                  <a:cs typeface="Mokoto"/>
                  <a:sym typeface="Mokoto"/>
                </a:rPr>
                <a:t>2- Guaranteed Optimality</a:t>
              </a:r>
            </a:p>
            <a:p>
              <a:pPr algn="ctr" marL="585478" indent="-146369" lvl="3">
                <a:lnSpc>
                  <a:spcPts val="3000"/>
                </a:lnSpc>
                <a:buFont typeface="Arial"/>
                <a:buChar char="￭"/>
              </a:pPr>
              <a:r>
                <a:rPr lang="en-US" sz="2144">
                  <a:solidFill>
                    <a:srgbClr val="FFFFFF"/>
                  </a:solidFill>
                  <a:latin typeface="Mokoto"/>
                  <a:ea typeface="Mokoto"/>
                  <a:cs typeface="Mokoto"/>
                  <a:sym typeface="Mokoto"/>
                </a:rPr>
                <a:t>Dijkstra’s algorithm provably finds the minimum‑cost path in a weighted graph. Neither BFS nor DFS can guarantee that when weights vary.</a:t>
              </a:r>
            </a:p>
            <a:p>
              <a:pPr algn="ctr" marL="585478" indent="-146369" lvl="3">
                <a:lnSpc>
                  <a:spcPts val="3077"/>
                </a:lnSpc>
              </a:pPr>
            </a:p>
            <a:p>
              <a:pPr algn="ctr" marL="585478" indent="-146369" lvl="3">
                <a:lnSpc>
                  <a:spcPts val="3000"/>
                </a:lnSpc>
              </a:pPr>
            </a:p>
            <a:p>
              <a:pPr algn="ctr" marL="585478" indent="-146369" lvl="3">
                <a:lnSpc>
                  <a:spcPts val="3000"/>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1392916">
            <a:off x="1385812" y="8447099"/>
            <a:ext cx="1158145" cy="1295876"/>
            <a:chOff x="0" y="0"/>
            <a:chExt cx="1544193" cy="1727835"/>
          </a:xfrm>
        </p:grpSpPr>
        <p:sp>
          <p:nvSpPr>
            <p:cNvPr name="Freeform 3" id="3"/>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4" id="4"/>
          <p:cNvGrpSpPr/>
          <p:nvPr/>
        </p:nvGrpSpPr>
        <p:grpSpPr>
          <a:xfrm rot="-1600701">
            <a:off x="16124859" y="1494606"/>
            <a:ext cx="1207484" cy="1277779"/>
            <a:chOff x="0" y="0"/>
            <a:chExt cx="1609979" cy="1703705"/>
          </a:xfrm>
        </p:grpSpPr>
        <p:sp>
          <p:nvSpPr>
            <p:cNvPr name="Freeform 5" id="5"/>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6" id="6"/>
          <p:cNvGrpSpPr/>
          <p:nvPr/>
        </p:nvGrpSpPr>
        <p:grpSpPr>
          <a:xfrm rot="1558470">
            <a:off x="15924304" y="8900504"/>
            <a:ext cx="1129284" cy="1199769"/>
            <a:chOff x="0" y="0"/>
            <a:chExt cx="1505712" cy="1599692"/>
          </a:xfrm>
        </p:grpSpPr>
        <p:sp>
          <p:nvSpPr>
            <p:cNvPr name="Freeform 7" id="7"/>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8" id="8"/>
          <p:cNvGrpSpPr/>
          <p:nvPr/>
        </p:nvGrpSpPr>
        <p:grpSpPr>
          <a:xfrm rot="0">
            <a:off x="589560" y="1466616"/>
            <a:ext cx="1112043" cy="1140524"/>
            <a:chOff x="0" y="0"/>
            <a:chExt cx="1482725" cy="1520698"/>
          </a:xfrm>
        </p:grpSpPr>
        <p:sp>
          <p:nvSpPr>
            <p:cNvPr name="Freeform 9" id="9"/>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0" id="10"/>
          <p:cNvGrpSpPr/>
          <p:nvPr/>
        </p:nvGrpSpPr>
        <p:grpSpPr>
          <a:xfrm rot="-941928">
            <a:off x="2096426" y="227658"/>
            <a:ext cx="835533" cy="1602105"/>
            <a:chOff x="0" y="0"/>
            <a:chExt cx="1114044" cy="2136140"/>
          </a:xfrm>
        </p:grpSpPr>
        <p:sp>
          <p:nvSpPr>
            <p:cNvPr name="Freeform 11" id="11"/>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2" id="12"/>
          <p:cNvGrpSpPr/>
          <p:nvPr/>
        </p:nvGrpSpPr>
        <p:grpSpPr>
          <a:xfrm rot="0">
            <a:off x="95031" y="6979327"/>
            <a:ext cx="989076" cy="931545"/>
            <a:chOff x="0" y="0"/>
            <a:chExt cx="1318768" cy="1242060"/>
          </a:xfrm>
        </p:grpSpPr>
        <p:sp>
          <p:nvSpPr>
            <p:cNvPr name="Freeform 13" id="1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4" id="14"/>
          <p:cNvGrpSpPr/>
          <p:nvPr/>
        </p:nvGrpSpPr>
        <p:grpSpPr>
          <a:xfrm rot="0">
            <a:off x="16728581" y="7280319"/>
            <a:ext cx="1061466" cy="1261110"/>
            <a:chOff x="0" y="0"/>
            <a:chExt cx="1415288" cy="1681480"/>
          </a:xfrm>
        </p:grpSpPr>
        <p:sp>
          <p:nvSpPr>
            <p:cNvPr name="Freeform 15" id="1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6" id="16"/>
          <p:cNvGrpSpPr/>
          <p:nvPr/>
        </p:nvGrpSpPr>
        <p:grpSpPr>
          <a:xfrm rot="0">
            <a:off x="15469087" y="192563"/>
            <a:ext cx="850963" cy="836105"/>
            <a:chOff x="0" y="0"/>
            <a:chExt cx="1134618" cy="1114806"/>
          </a:xfrm>
        </p:grpSpPr>
        <p:sp>
          <p:nvSpPr>
            <p:cNvPr name="Freeform 17" id="17"/>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18" id="18"/>
          <p:cNvGrpSpPr/>
          <p:nvPr/>
        </p:nvGrpSpPr>
        <p:grpSpPr>
          <a:xfrm rot="0">
            <a:off x="3566278" y="1466616"/>
            <a:ext cx="11902809" cy="417989"/>
            <a:chOff x="0" y="0"/>
            <a:chExt cx="15870412" cy="557318"/>
          </a:xfrm>
        </p:grpSpPr>
        <p:sp>
          <p:nvSpPr>
            <p:cNvPr name="Freeform 19" id="19"/>
            <p:cNvSpPr/>
            <p:nvPr/>
          </p:nvSpPr>
          <p:spPr>
            <a:xfrm flipH="false" flipV="false" rot="0">
              <a:off x="0" y="0"/>
              <a:ext cx="15870413" cy="557318"/>
            </a:xfrm>
            <a:custGeom>
              <a:avLst/>
              <a:gdLst/>
              <a:ahLst/>
              <a:cxnLst/>
              <a:rect r="r" b="b" t="t" l="l"/>
              <a:pathLst>
                <a:path h="557318" w="15870413">
                  <a:moveTo>
                    <a:pt x="0" y="0"/>
                  </a:moveTo>
                  <a:lnTo>
                    <a:pt x="15870413" y="0"/>
                  </a:lnTo>
                  <a:lnTo>
                    <a:pt x="15870413" y="557318"/>
                  </a:lnTo>
                  <a:lnTo>
                    <a:pt x="0" y="557318"/>
                  </a:lnTo>
                  <a:close/>
                </a:path>
              </a:pathLst>
            </a:custGeom>
            <a:solidFill>
              <a:srgbClr val="000000">
                <a:alpha val="0"/>
              </a:srgbClr>
            </a:solidFill>
          </p:spPr>
        </p:sp>
        <p:sp>
          <p:nvSpPr>
            <p:cNvPr name="TextBox 20" id="20"/>
            <p:cNvSpPr txBox="true"/>
            <p:nvPr/>
          </p:nvSpPr>
          <p:spPr>
            <a:xfrm>
              <a:off x="0" y="-47625"/>
              <a:ext cx="15870412" cy="6049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Comparison of Routing Algorithms: Best Performance</a:t>
              </a:r>
            </a:p>
          </p:txBody>
        </p:sp>
      </p:grpSp>
      <p:grpSp>
        <p:nvGrpSpPr>
          <p:cNvPr name="Group 21" id="21"/>
          <p:cNvGrpSpPr/>
          <p:nvPr/>
        </p:nvGrpSpPr>
        <p:grpSpPr>
          <a:xfrm rot="0">
            <a:off x="2759399" y="2975438"/>
            <a:ext cx="12769202" cy="4981866"/>
            <a:chOff x="0" y="0"/>
            <a:chExt cx="17025603" cy="6642488"/>
          </a:xfrm>
        </p:grpSpPr>
        <p:sp>
          <p:nvSpPr>
            <p:cNvPr name="Freeform 22" id="22"/>
            <p:cNvSpPr/>
            <p:nvPr/>
          </p:nvSpPr>
          <p:spPr>
            <a:xfrm flipH="false" flipV="false" rot="0">
              <a:off x="0" y="0"/>
              <a:ext cx="17025603" cy="6642488"/>
            </a:xfrm>
            <a:custGeom>
              <a:avLst/>
              <a:gdLst/>
              <a:ahLst/>
              <a:cxnLst/>
              <a:rect r="r" b="b" t="t" l="l"/>
              <a:pathLst>
                <a:path h="6642488" w="17025603">
                  <a:moveTo>
                    <a:pt x="0" y="0"/>
                  </a:moveTo>
                  <a:lnTo>
                    <a:pt x="17025603" y="0"/>
                  </a:lnTo>
                  <a:lnTo>
                    <a:pt x="17025603" y="6642488"/>
                  </a:lnTo>
                  <a:lnTo>
                    <a:pt x="0" y="6642488"/>
                  </a:lnTo>
                  <a:close/>
                </a:path>
              </a:pathLst>
            </a:custGeom>
            <a:solidFill>
              <a:srgbClr val="000000">
                <a:alpha val="0"/>
              </a:srgbClr>
            </a:solidFill>
          </p:spPr>
        </p:sp>
        <p:sp>
          <p:nvSpPr>
            <p:cNvPr name="TextBox 23" id="23"/>
            <p:cNvSpPr txBox="true"/>
            <p:nvPr/>
          </p:nvSpPr>
          <p:spPr>
            <a:xfrm>
              <a:off x="0" y="-47625"/>
              <a:ext cx="17025603" cy="6690113"/>
            </a:xfrm>
            <a:prstGeom prst="rect">
              <a:avLst/>
            </a:prstGeom>
          </p:spPr>
          <p:txBody>
            <a:bodyPr anchor="t" rtlCol="false" tIns="0" lIns="0" bIns="0" rIns="0"/>
            <a:lstStyle/>
            <a:p>
              <a:pPr algn="ctr">
                <a:lnSpc>
                  <a:spcPts val="3000"/>
                </a:lnSpc>
              </a:pPr>
              <a:r>
                <a:rPr lang="en-US" sz="2144">
                  <a:solidFill>
                    <a:srgbClr val="FFFFFF"/>
                  </a:solidFill>
                  <a:latin typeface="Mokoto"/>
                  <a:ea typeface="Mokoto"/>
                  <a:cs typeface="Mokoto"/>
                  <a:sym typeface="Mokoto"/>
                </a:rPr>
                <a:t>3- Alternate‑Path Handling</a:t>
              </a:r>
            </a:p>
            <a:p>
              <a:pPr algn="ctr" marL="585478" indent="-146369" lvl="3">
                <a:lnSpc>
                  <a:spcPts val="3000"/>
                </a:lnSpc>
                <a:buFont typeface="Arial"/>
                <a:buChar char="￭"/>
              </a:pPr>
              <a:r>
                <a:rPr lang="en-US" sz="2144">
                  <a:solidFill>
                    <a:srgbClr val="FFFFFF"/>
                  </a:solidFill>
                  <a:latin typeface="Mokoto"/>
                  <a:ea typeface="Mokoto"/>
                  <a:cs typeface="Mokoto"/>
                  <a:sym typeface="Mokoto"/>
                </a:rPr>
                <a:t>Even when forced into a low‑congestion alternate, Dijkstra’s and A* reroute is 26.8 min, still better than BFS/DFS’s 28 min.</a:t>
              </a:r>
            </a:p>
            <a:p>
              <a:pPr algn="ctr" marL="585478" indent="-146369" lvl="3">
                <a:lnSpc>
                  <a:spcPts val="3000"/>
                </a:lnSpc>
              </a:pPr>
            </a:p>
            <a:p>
              <a:pPr algn="ctr" marL="585478" indent="-146369" lvl="3">
                <a:lnSpc>
                  <a:spcPts val="3000"/>
                </a:lnSpc>
              </a:pPr>
              <a:r>
                <a:rPr lang="en-US" sz="2144">
                  <a:solidFill>
                    <a:srgbClr val="FFFFFF"/>
                  </a:solidFill>
                  <a:latin typeface="Mokoto"/>
                  <a:ea typeface="Mokoto"/>
                  <a:cs typeface="Mokoto"/>
                  <a:sym typeface="Mokoto"/>
                </a:rPr>
                <a:t>4- A Equivalence &amp; Extensibility*</a:t>
              </a:r>
            </a:p>
            <a:p>
              <a:pPr algn="ctr" marL="585478" indent="-146369" lvl="3">
                <a:lnSpc>
                  <a:spcPts val="3000"/>
                </a:lnSpc>
                <a:buFont typeface="Arial"/>
                <a:buChar char="￭"/>
              </a:pPr>
              <a:r>
                <a:rPr lang="en-US" sz="2144">
                  <a:solidFill>
                    <a:srgbClr val="FFFFFF"/>
                  </a:solidFill>
                  <a:latin typeface="Mokoto"/>
                  <a:ea typeface="Mokoto"/>
                  <a:cs typeface="Mokoto"/>
                  <a:sym typeface="Mokoto"/>
                </a:rPr>
                <a:t>With a zero heuristic, A* degenerates to Dijkstra—so it also finds 25.8 min.</a:t>
              </a:r>
            </a:p>
            <a:p>
              <a:pPr algn="ctr" marL="585478" indent="-146369" lvl="3">
                <a:lnSpc>
                  <a:spcPts val="3000"/>
                </a:lnSpc>
                <a:buFont typeface="Arial"/>
                <a:buChar char="￭"/>
              </a:pPr>
              <a:r>
                <a:rPr lang="en-US" sz="2144">
                  <a:solidFill>
                    <a:srgbClr val="FFFFFF"/>
                  </a:solidFill>
                  <a:latin typeface="Mokoto"/>
                  <a:ea typeface="Mokoto"/>
                  <a:cs typeface="Mokoto"/>
                  <a:sym typeface="Mokoto"/>
                </a:rPr>
                <a:t>Why use A*? If you later supply an admissible heuristic (e.g., straight‑line distance), A* can explore far fewer nodes and run faster, while retaining optimality.</a:t>
              </a:r>
            </a:p>
            <a:p>
              <a:pPr algn="ctr" marL="585478" indent="-146369" lvl="3">
                <a:lnSpc>
                  <a:spcPts val="3000"/>
                </a:lnSpc>
              </a:pPr>
            </a:p>
            <a:p>
              <a:pPr algn="ctr" marL="585478" indent="-146369" lvl="3">
                <a:lnSpc>
                  <a:spcPts val="3000"/>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669"/>
          <a:stretch>
            <a:fillRect/>
          </a:stretch>
        </p:blipFill>
        <p:spPr>
          <a:xfrm flipH="false" flipV="false" rot="0">
            <a:off x="0" y="0"/>
            <a:ext cx="18288000" cy="10218171"/>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0">
            <a:off x="534162" y="6979327"/>
            <a:ext cx="989076" cy="931545"/>
            <a:chOff x="0" y="0"/>
            <a:chExt cx="1318768" cy="1242060"/>
          </a:xfrm>
        </p:grpSpPr>
        <p:sp>
          <p:nvSpPr>
            <p:cNvPr name="Freeform 3" id="3"/>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2"/>
              <a:stretch>
                <a:fillRect l="-58" t="0" r="-58" b="0"/>
              </a:stretch>
            </a:blipFill>
          </p:spPr>
        </p:sp>
      </p:grpSp>
      <p:grpSp>
        <p:nvGrpSpPr>
          <p:cNvPr name="Group 4" id="4"/>
          <p:cNvGrpSpPr/>
          <p:nvPr/>
        </p:nvGrpSpPr>
        <p:grpSpPr>
          <a:xfrm rot="0">
            <a:off x="16317776" y="3882390"/>
            <a:ext cx="1061466" cy="1261110"/>
            <a:chOff x="0" y="0"/>
            <a:chExt cx="1415288" cy="1681480"/>
          </a:xfrm>
        </p:grpSpPr>
        <p:sp>
          <p:nvSpPr>
            <p:cNvPr name="Freeform 5" id="5"/>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3"/>
              <a:stretch>
                <a:fillRect l="-24" t="0" r="-24" b="0"/>
              </a:stretch>
            </a:blipFill>
          </p:spPr>
        </p:sp>
      </p:grpSp>
      <p:grpSp>
        <p:nvGrpSpPr>
          <p:cNvPr name="Group 6" id="6"/>
          <p:cNvGrpSpPr/>
          <p:nvPr/>
        </p:nvGrpSpPr>
        <p:grpSpPr>
          <a:xfrm rot="0">
            <a:off x="2177728" y="1532377"/>
            <a:ext cx="14642727" cy="7149061"/>
            <a:chOff x="0" y="0"/>
            <a:chExt cx="19523636" cy="9532081"/>
          </a:xfrm>
        </p:grpSpPr>
        <p:sp>
          <p:nvSpPr>
            <p:cNvPr name="Freeform 7" id="7"/>
            <p:cNvSpPr/>
            <p:nvPr/>
          </p:nvSpPr>
          <p:spPr>
            <a:xfrm flipH="false" flipV="false" rot="0">
              <a:off x="0" y="0"/>
              <a:ext cx="19523636" cy="9532081"/>
            </a:xfrm>
            <a:custGeom>
              <a:avLst/>
              <a:gdLst/>
              <a:ahLst/>
              <a:cxnLst/>
              <a:rect r="r" b="b" t="t" l="l"/>
              <a:pathLst>
                <a:path h="9532081" w="19523636">
                  <a:moveTo>
                    <a:pt x="0" y="0"/>
                  </a:moveTo>
                  <a:lnTo>
                    <a:pt x="19523636" y="0"/>
                  </a:lnTo>
                  <a:lnTo>
                    <a:pt x="19523636" y="9532081"/>
                  </a:lnTo>
                  <a:lnTo>
                    <a:pt x="0" y="9532081"/>
                  </a:lnTo>
                  <a:close/>
                </a:path>
              </a:pathLst>
            </a:custGeom>
            <a:solidFill>
              <a:srgbClr val="000000">
                <a:alpha val="0"/>
              </a:srgbClr>
            </a:solidFill>
          </p:spPr>
        </p:sp>
        <p:sp>
          <p:nvSpPr>
            <p:cNvPr name="TextBox 8" id="8"/>
            <p:cNvSpPr txBox="true"/>
            <p:nvPr/>
          </p:nvSpPr>
          <p:spPr>
            <a:xfrm>
              <a:off x="0" y="-85725"/>
              <a:ext cx="19523636" cy="9617806"/>
            </a:xfrm>
            <a:prstGeom prst="rect">
              <a:avLst/>
            </a:prstGeom>
          </p:spPr>
          <p:txBody>
            <a:bodyPr anchor="t" rtlCol="false" tIns="0" lIns="0" bIns="0" rIns="0"/>
            <a:lstStyle/>
            <a:p>
              <a:pPr algn="just">
                <a:lnSpc>
                  <a:spcPts val="5878"/>
                </a:lnSpc>
              </a:pPr>
              <a:r>
                <a:rPr lang="en-US" sz="4198">
                  <a:solidFill>
                    <a:srgbClr val="FFFFFF"/>
                  </a:solidFill>
                  <a:latin typeface="Mokoto"/>
                  <a:ea typeface="Mokoto"/>
                  <a:cs typeface="Mokoto"/>
                  <a:sym typeface="Mokoto"/>
                </a:rPr>
                <a:t>             Future Work </a:t>
              </a:r>
            </a:p>
            <a:p>
              <a:pPr algn="l">
                <a:lnSpc>
                  <a:spcPts val="3078"/>
                </a:lnSpc>
              </a:pPr>
            </a:p>
            <a:p>
              <a:pPr algn="l">
                <a:lnSpc>
                  <a:spcPts val="3078"/>
                </a:lnSpc>
              </a:pPr>
              <a:r>
                <a:rPr lang="en-US" sz="2199">
                  <a:solidFill>
                    <a:srgbClr val="FFFFFF"/>
                  </a:solidFill>
                  <a:latin typeface="Mokoto"/>
                  <a:ea typeface="Mokoto"/>
                  <a:cs typeface="Mokoto"/>
                  <a:sym typeface="Mokoto"/>
                </a:rPr>
                <a:t>● Live Traffic Integration: Incorporate real-time traffic data from APIs like Google Maps or Mapbox. </a:t>
              </a:r>
            </a:p>
            <a:p>
              <a:pPr algn="l">
                <a:lnSpc>
                  <a:spcPts val="3078"/>
                </a:lnSpc>
              </a:pPr>
            </a:p>
            <a:p>
              <a:pPr algn="l">
                <a:lnSpc>
                  <a:spcPts val="3078"/>
                </a:lnSpc>
              </a:pPr>
              <a:r>
                <a:rPr lang="en-US" sz="2199">
                  <a:solidFill>
                    <a:srgbClr val="FFFFFF"/>
                  </a:solidFill>
                  <a:latin typeface="Mokoto"/>
                  <a:ea typeface="Mokoto"/>
                  <a:cs typeface="Mokoto"/>
                  <a:sym typeface="Mokoto"/>
                </a:rPr>
                <a:t>● Heuristic Optimization for A*: Improve the A* algorithm by integrating geographic heuristics (e.g., Haversine distance). </a:t>
              </a:r>
            </a:p>
            <a:p>
              <a:pPr algn="l">
                <a:lnSpc>
                  <a:spcPts val="3078"/>
                </a:lnSpc>
              </a:pPr>
            </a:p>
            <a:p>
              <a:pPr algn="l">
                <a:lnSpc>
                  <a:spcPts val="3078"/>
                </a:lnSpc>
              </a:pPr>
              <a:r>
                <a:rPr lang="en-US" sz="2199">
                  <a:solidFill>
                    <a:srgbClr val="FFFFFF"/>
                  </a:solidFill>
                  <a:latin typeface="Mokoto"/>
                  <a:ea typeface="Mokoto"/>
                  <a:cs typeface="Mokoto"/>
                  <a:sym typeface="Mokoto"/>
                </a:rPr>
                <a:t>● User Customization: Let users prioritize shortest distance, lowest congestion, or least time. </a:t>
              </a:r>
            </a:p>
            <a:p>
              <a:pPr algn="l">
                <a:lnSpc>
                  <a:spcPts val="3078"/>
                </a:lnSpc>
              </a:pPr>
            </a:p>
            <a:p>
              <a:pPr algn="l">
                <a:lnSpc>
                  <a:spcPts val="3078"/>
                </a:lnSpc>
              </a:pPr>
              <a:r>
                <a:rPr lang="en-US" sz="2199">
                  <a:solidFill>
                    <a:srgbClr val="FFFFFF"/>
                  </a:solidFill>
                  <a:latin typeface="Mokoto"/>
                  <a:ea typeface="Mokoto"/>
                  <a:cs typeface="Mokoto"/>
                  <a:sym typeface="Mokoto"/>
                </a:rPr>
                <a:t>● Mobile App Interface: Build a mobile-friendly frontend for commuters. </a:t>
              </a:r>
            </a:p>
            <a:p>
              <a:pPr algn="l">
                <a:lnSpc>
                  <a:spcPts val="3078"/>
                </a:lnSpc>
              </a:pPr>
            </a:p>
            <a:p>
              <a:pPr algn="l">
                <a:lnSpc>
                  <a:spcPts val="3078"/>
                </a:lnSpc>
              </a:pPr>
              <a:r>
                <a:rPr lang="en-US" sz="2199">
                  <a:solidFill>
                    <a:srgbClr val="FFFFFF"/>
                  </a:solidFill>
                  <a:latin typeface="Mokoto"/>
                  <a:ea typeface="Mokoto"/>
                  <a:cs typeface="Mokoto"/>
                  <a:sym typeface="Mokoto"/>
                </a:rPr>
                <a:t>● Scalability: Extend the system to include more parts of Karachi or other cities.</a:t>
              </a:r>
            </a:p>
            <a:p>
              <a:pPr algn="l">
                <a:lnSpc>
                  <a:spcPts val="3078"/>
                </a:lnSpc>
              </a:pPr>
            </a:p>
          </p:txBody>
        </p:sp>
      </p:grpSp>
      <p:grpSp>
        <p:nvGrpSpPr>
          <p:cNvPr name="Group 9" id="9"/>
          <p:cNvGrpSpPr/>
          <p:nvPr/>
        </p:nvGrpSpPr>
        <p:grpSpPr>
          <a:xfrm rot="0">
            <a:off x="17028" y="8234124"/>
            <a:ext cx="2257131" cy="2048351"/>
            <a:chOff x="0" y="0"/>
            <a:chExt cx="4650359" cy="4220210"/>
          </a:xfrm>
        </p:grpSpPr>
        <p:sp>
          <p:nvSpPr>
            <p:cNvPr name="Freeform 10" id="10"/>
            <p:cNvSpPr/>
            <p:nvPr/>
          </p:nvSpPr>
          <p:spPr>
            <a:xfrm flipH="false" flipV="false" rot="0">
              <a:off x="0" y="0"/>
              <a:ext cx="4650359" cy="4220210"/>
            </a:xfrm>
            <a:custGeom>
              <a:avLst/>
              <a:gdLst/>
              <a:ahLst/>
              <a:cxnLst/>
              <a:rect r="r" b="b" t="t" l="l"/>
              <a:pathLst>
                <a:path h="4220210" w="4650359">
                  <a:moveTo>
                    <a:pt x="0" y="0"/>
                  </a:moveTo>
                  <a:lnTo>
                    <a:pt x="4650359" y="0"/>
                  </a:lnTo>
                  <a:lnTo>
                    <a:pt x="4650359" y="4220210"/>
                  </a:lnTo>
                  <a:lnTo>
                    <a:pt x="0" y="4220210"/>
                  </a:lnTo>
                  <a:lnTo>
                    <a:pt x="0" y="0"/>
                  </a:lnTo>
                  <a:close/>
                </a:path>
              </a:pathLst>
            </a:custGeom>
            <a:blipFill>
              <a:blip r:embed="rId4"/>
              <a:stretch>
                <a:fillRect l="0" t="-43" r="0" b="-43"/>
              </a:stretch>
            </a:blipFill>
          </p:spPr>
        </p:sp>
      </p:grpSp>
      <p:grpSp>
        <p:nvGrpSpPr>
          <p:cNvPr name="Group 11" id="11"/>
          <p:cNvGrpSpPr/>
          <p:nvPr/>
        </p:nvGrpSpPr>
        <p:grpSpPr>
          <a:xfrm rot="122149">
            <a:off x="15640970" y="327999"/>
            <a:ext cx="2358970" cy="2037564"/>
            <a:chOff x="0" y="0"/>
            <a:chExt cx="5460365" cy="4716399"/>
          </a:xfrm>
        </p:grpSpPr>
        <p:sp>
          <p:nvSpPr>
            <p:cNvPr name="Freeform 12" id="12"/>
            <p:cNvSpPr/>
            <p:nvPr/>
          </p:nvSpPr>
          <p:spPr>
            <a:xfrm flipH="false" flipV="false" rot="0">
              <a:off x="0" y="0"/>
              <a:ext cx="5460365" cy="4716399"/>
            </a:xfrm>
            <a:custGeom>
              <a:avLst/>
              <a:gdLst/>
              <a:ahLst/>
              <a:cxnLst/>
              <a:rect r="r" b="b" t="t" l="l"/>
              <a:pathLst>
                <a:path h="4716399" w="5460365">
                  <a:moveTo>
                    <a:pt x="0" y="0"/>
                  </a:moveTo>
                  <a:lnTo>
                    <a:pt x="5460365" y="0"/>
                  </a:lnTo>
                  <a:lnTo>
                    <a:pt x="5460365" y="4716399"/>
                  </a:lnTo>
                  <a:lnTo>
                    <a:pt x="0" y="4716399"/>
                  </a:lnTo>
                  <a:lnTo>
                    <a:pt x="0" y="0"/>
                  </a:lnTo>
                  <a:close/>
                </a:path>
              </a:pathLst>
            </a:custGeom>
            <a:blipFill>
              <a:blip r:embed="rId5"/>
              <a:stretch>
                <a:fillRect l="-30" t="0" r="-30" b="0"/>
              </a:stretch>
            </a:blipFill>
          </p:spPr>
        </p:sp>
      </p:grpSp>
      <p:grpSp>
        <p:nvGrpSpPr>
          <p:cNvPr name="Group 13" id="13"/>
          <p:cNvGrpSpPr/>
          <p:nvPr/>
        </p:nvGrpSpPr>
        <p:grpSpPr>
          <a:xfrm rot="0">
            <a:off x="15615994" y="7445099"/>
            <a:ext cx="2465028" cy="2643476"/>
            <a:chOff x="0" y="0"/>
            <a:chExt cx="5868289" cy="6293104"/>
          </a:xfrm>
        </p:grpSpPr>
        <p:sp>
          <p:nvSpPr>
            <p:cNvPr name="Freeform 14" id="14"/>
            <p:cNvSpPr/>
            <p:nvPr/>
          </p:nvSpPr>
          <p:spPr>
            <a:xfrm flipH="false" flipV="false" rot="0">
              <a:off x="0" y="0"/>
              <a:ext cx="5868289" cy="6293104"/>
            </a:xfrm>
            <a:custGeom>
              <a:avLst/>
              <a:gdLst/>
              <a:ahLst/>
              <a:cxnLst/>
              <a:rect r="r" b="b" t="t" l="l"/>
              <a:pathLst>
                <a:path h="6293104" w="5868289">
                  <a:moveTo>
                    <a:pt x="0" y="0"/>
                  </a:moveTo>
                  <a:lnTo>
                    <a:pt x="5868289" y="0"/>
                  </a:lnTo>
                  <a:lnTo>
                    <a:pt x="5868289" y="6293104"/>
                  </a:lnTo>
                  <a:lnTo>
                    <a:pt x="0" y="6293104"/>
                  </a:lnTo>
                  <a:lnTo>
                    <a:pt x="0" y="0"/>
                  </a:lnTo>
                  <a:close/>
                </a:path>
              </a:pathLst>
            </a:custGeom>
            <a:blipFill>
              <a:blip r:embed="rId6"/>
              <a:stretch>
                <a:fillRect l="0" t="-125" r="0" b="-125"/>
              </a:stretch>
            </a:blipFill>
          </p:spPr>
        </p:sp>
      </p:grpSp>
      <p:grpSp>
        <p:nvGrpSpPr>
          <p:cNvPr name="Group 15" id="15"/>
          <p:cNvGrpSpPr/>
          <p:nvPr/>
        </p:nvGrpSpPr>
        <p:grpSpPr>
          <a:xfrm rot="0">
            <a:off x="0" y="0"/>
            <a:ext cx="2652138" cy="2406821"/>
            <a:chOff x="0" y="0"/>
            <a:chExt cx="4650359" cy="4220210"/>
          </a:xfrm>
        </p:grpSpPr>
        <p:sp>
          <p:nvSpPr>
            <p:cNvPr name="Freeform 16" id="16"/>
            <p:cNvSpPr/>
            <p:nvPr/>
          </p:nvSpPr>
          <p:spPr>
            <a:xfrm flipH="false" flipV="false" rot="0">
              <a:off x="0" y="0"/>
              <a:ext cx="4650359" cy="4220210"/>
            </a:xfrm>
            <a:custGeom>
              <a:avLst/>
              <a:gdLst/>
              <a:ahLst/>
              <a:cxnLst/>
              <a:rect r="r" b="b" t="t" l="l"/>
              <a:pathLst>
                <a:path h="4220210" w="4650359">
                  <a:moveTo>
                    <a:pt x="0" y="0"/>
                  </a:moveTo>
                  <a:lnTo>
                    <a:pt x="4650359" y="0"/>
                  </a:lnTo>
                  <a:lnTo>
                    <a:pt x="4650359" y="4220210"/>
                  </a:lnTo>
                  <a:lnTo>
                    <a:pt x="0" y="4220210"/>
                  </a:lnTo>
                  <a:lnTo>
                    <a:pt x="0" y="0"/>
                  </a:lnTo>
                  <a:close/>
                </a:path>
              </a:pathLst>
            </a:custGeom>
            <a:blipFill>
              <a:blip r:embed="rId4"/>
              <a:stretch>
                <a:fillRect l="0" t="-43" r="0" b="-43"/>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0">
            <a:off x="2952149" y="2584301"/>
            <a:ext cx="12383702" cy="704535"/>
            <a:chOff x="0" y="0"/>
            <a:chExt cx="16511603" cy="939380"/>
          </a:xfrm>
        </p:grpSpPr>
        <p:sp>
          <p:nvSpPr>
            <p:cNvPr name="Freeform 3" id="3"/>
            <p:cNvSpPr/>
            <p:nvPr/>
          </p:nvSpPr>
          <p:spPr>
            <a:xfrm flipH="false" flipV="false" rot="0">
              <a:off x="0" y="0"/>
              <a:ext cx="16511603" cy="939380"/>
            </a:xfrm>
            <a:custGeom>
              <a:avLst/>
              <a:gdLst/>
              <a:ahLst/>
              <a:cxnLst/>
              <a:rect r="r" b="b" t="t" l="l"/>
              <a:pathLst>
                <a:path h="939380" w="16511603">
                  <a:moveTo>
                    <a:pt x="0" y="0"/>
                  </a:moveTo>
                  <a:lnTo>
                    <a:pt x="16511603" y="0"/>
                  </a:lnTo>
                  <a:lnTo>
                    <a:pt x="16511603" y="939380"/>
                  </a:lnTo>
                  <a:lnTo>
                    <a:pt x="0" y="939380"/>
                  </a:lnTo>
                  <a:close/>
                </a:path>
              </a:pathLst>
            </a:custGeom>
            <a:solidFill>
              <a:srgbClr val="000000">
                <a:alpha val="0"/>
              </a:srgbClr>
            </a:solidFill>
          </p:spPr>
        </p:sp>
        <p:sp>
          <p:nvSpPr>
            <p:cNvPr name="TextBox 4" id="4"/>
            <p:cNvSpPr txBox="true"/>
            <p:nvPr/>
          </p:nvSpPr>
          <p:spPr>
            <a:xfrm>
              <a:off x="0" y="-28575"/>
              <a:ext cx="16511603" cy="967955"/>
            </a:xfrm>
            <a:prstGeom prst="rect">
              <a:avLst/>
            </a:prstGeom>
          </p:spPr>
          <p:txBody>
            <a:bodyPr anchor="t" rtlCol="false" tIns="0" lIns="0" bIns="0" rIns="0"/>
            <a:lstStyle/>
            <a:p>
              <a:pPr algn="ctr">
                <a:lnSpc>
                  <a:spcPts val="5391"/>
                </a:lnSpc>
              </a:pPr>
              <a:r>
                <a:rPr lang="en-US" sz="4319">
                  <a:solidFill>
                    <a:srgbClr val="FFFFFF"/>
                  </a:solidFill>
                  <a:latin typeface="Mokoto"/>
                  <a:ea typeface="Mokoto"/>
                  <a:cs typeface="Mokoto"/>
                  <a:sym typeface="Mokoto"/>
                </a:rPr>
                <a:t>CONCLUSION</a:t>
              </a:r>
            </a:p>
          </p:txBody>
        </p:sp>
      </p:grpSp>
      <p:grpSp>
        <p:nvGrpSpPr>
          <p:cNvPr name="Group 5" id="5"/>
          <p:cNvGrpSpPr/>
          <p:nvPr/>
        </p:nvGrpSpPr>
        <p:grpSpPr>
          <a:xfrm rot="1392916">
            <a:off x="1237218" y="8717242"/>
            <a:ext cx="1158145" cy="1295876"/>
            <a:chOff x="0" y="0"/>
            <a:chExt cx="1544193" cy="1727835"/>
          </a:xfrm>
        </p:grpSpPr>
        <p:sp>
          <p:nvSpPr>
            <p:cNvPr name="Freeform 6" id="6"/>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7" id="7"/>
          <p:cNvGrpSpPr/>
          <p:nvPr/>
        </p:nvGrpSpPr>
        <p:grpSpPr>
          <a:xfrm rot="-1600701">
            <a:off x="16124859" y="1494606"/>
            <a:ext cx="1207484" cy="1277779"/>
            <a:chOff x="0" y="0"/>
            <a:chExt cx="1609979" cy="1703705"/>
          </a:xfrm>
        </p:grpSpPr>
        <p:sp>
          <p:nvSpPr>
            <p:cNvPr name="Freeform 8" id="8"/>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9" id="9"/>
          <p:cNvGrpSpPr/>
          <p:nvPr/>
        </p:nvGrpSpPr>
        <p:grpSpPr>
          <a:xfrm rot="1558470">
            <a:off x="15116079" y="8802427"/>
            <a:ext cx="1129284" cy="1199769"/>
            <a:chOff x="0" y="0"/>
            <a:chExt cx="1505712" cy="1599692"/>
          </a:xfrm>
        </p:grpSpPr>
        <p:sp>
          <p:nvSpPr>
            <p:cNvPr name="Freeform 10" id="10"/>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11" id="11"/>
          <p:cNvGrpSpPr/>
          <p:nvPr/>
        </p:nvGrpSpPr>
        <p:grpSpPr>
          <a:xfrm rot="0">
            <a:off x="589560" y="1466616"/>
            <a:ext cx="1112043" cy="1140524"/>
            <a:chOff x="0" y="0"/>
            <a:chExt cx="1482725" cy="1520698"/>
          </a:xfrm>
        </p:grpSpPr>
        <p:sp>
          <p:nvSpPr>
            <p:cNvPr name="Freeform 12" id="12"/>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3" id="13"/>
          <p:cNvGrpSpPr/>
          <p:nvPr/>
        </p:nvGrpSpPr>
        <p:grpSpPr>
          <a:xfrm rot="-941928">
            <a:off x="2953676" y="448248"/>
            <a:ext cx="835533" cy="1602105"/>
            <a:chOff x="0" y="0"/>
            <a:chExt cx="1114044" cy="2136140"/>
          </a:xfrm>
        </p:grpSpPr>
        <p:sp>
          <p:nvSpPr>
            <p:cNvPr name="Freeform 14" id="14"/>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5" id="15"/>
          <p:cNvGrpSpPr/>
          <p:nvPr/>
        </p:nvGrpSpPr>
        <p:grpSpPr>
          <a:xfrm rot="0">
            <a:off x="156518" y="6979327"/>
            <a:ext cx="989076" cy="931545"/>
            <a:chOff x="0" y="0"/>
            <a:chExt cx="1318768" cy="1242060"/>
          </a:xfrm>
        </p:grpSpPr>
        <p:sp>
          <p:nvSpPr>
            <p:cNvPr name="Freeform 16" id="16"/>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7" id="17"/>
          <p:cNvGrpSpPr/>
          <p:nvPr/>
        </p:nvGrpSpPr>
        <p:grpSpPr>
          <a:xfrm rot="0">
            <a:off x="16728581" y="7280319"/>
            <a:ext cx="1061466" cy="1261110"/>
            <a:chOff x="0" y="0"/>
            <a:chExt cx="1415288" cy="1681480"/>
          </a:xfrm>
        </p:grpSpPr>
        <p:sp>
          <p:nvSpPr>
            <p:cNvPr name="Freeform 18" id="18"/>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9" id="19"/>
          <p:cNvGrpSpPr/>
          <p:nvPr/>
        </p:nvGrpSpPr>
        <p:grpSpPr>
          <a:xfrm rot="0">
            <a:off x="14059418" y="365100"/>
            <a:ext cx="850963" cy="836105"/>
            <a:chOff x="0" y="0"/>
            <a:chExt cx="1134618" cy="1114806"/>
          </a:xfrm>
        </p:grpSpPr>
        <p:sp>
          <p:nvSpPr>
            <p:cNvPr name="Freeform 20" id="20"/>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21" id="21"/>
          <p:cNvGrpSpPr/>
          <p:nvPr/>
        </p:nvGrpSpPr>
        <p:grpSpPr>
          <a:xfrm rot="0">
            <a:off x="3371421" y="3916521"/>
            <a:ext cx="11964430" cy="3188509"/>
            <a:chOff x="0" y="0"/>
            <a:chExt cx="15952573" cy="4251345"/>
          </a:xfrm>
        </p:grpSpPr>
        <p:sp>
          <p:nvSpPr>
            <p:cNvPr name="Freeform 22" id="22"/>
            <p:cNvSpPr/>
            <p:nvPr/>
          </p:nvSpPr>
          <p:spPr>
            <a:xfrm flipH="false" flipV="false" rot="0">
              <a:off x="0" y="0"/>
              <a:ext cx="15952574" cy="4251345"/>
            </a:xfrm>
            <a:custGeom>
              <a:avLst/>
              <a:gdLst/>
              <a:ahLst/>
              <a:cxnLst/>
              <a:rect r="r" b="b" t="t" l="l"/>
              <a:pathLst>
                <a:path h="4251345" w="15952574">
                  <a:moveTo>
                    <a:pt x="0" y="0"/>
                  </a:moveTo>
                  <a:lnTo>
                    <a:pt x="15952574" y="0"/>
                  </a:lnTo>
                  <a:lnTo>
                    <a:pt x="15952574" y="4251345"/>
                  </a:lnTo>
                  <a:lnTo>
                    <a:pt x="0" y="4251345"/>
                  </a:lnTo>
                  <a:close/>
                </a:path>
              </a:pathLst>
            </a:custGeom>
            <a:solidFill>
              <a:srgbClr val="000000">
                <a:alpha val="0"/>
              </a:srgbClr>
            </a:solidFill>
          </p:spPr>
        </p:sp>
        <p:sp>
          <p:nvSpPr>
            <p:cNvPr name="TextBox 23" id="23"/>
            <p:cNvSpPr txBox="true"/>
            <p:nvPr/>
          </p:nvSpPr>
          <p:spPr>
            <a:xfrm>
              <a:off x="0" y="-47625"/>
              <a:ext cx="15952573" cy="4298970"/>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This project presents a congestion-aware routing system using graph algorithms to find the fastest paths in a traffic-affected network. Dijkstra and A* algorithms proved most efficient, accurately minimizing travel time while adapting to congestion. With visualizations and alternate route suggestions, the system offers a smart and practical approach to real-time route planning.</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grpSp>
        <p:nvGrpSpPr>
          <p:cNvPr name="Group 2" id="2"/>
          <p:cNvGrpSpPr/>
          <p:nvPr/>
        </p:nvGrpSpPr>
        <p:grpSpPr>
          <a:xfrm rot="0">
            <a:off x="2752511" y="3731280"/>
            <a:ext cx="12383702" cy="808209"/>
            <a:chOff x="0" y="0"/>
            <a:chExt cx="16511603" cy="1077612"/>
          </a:xfrm>
        </p:grpSpPr>
        <p:sp>
          <p:nvSpPr>
            <p:cNvPr name="Freeform 3" id="3"/>
            <p:cNvSpPr/>
            <p:nvPr/>
          </p:nvSpPr>
          <p:spPr>
            <a:xfrm flipH="false" flipV="false" rot="0">
              <a:off x="0" y="0"/>
              <a:ext cx="16511603" cy="1077612"/>
            </a:xfrm>
            <a:custGeom>
              <a:avLst/>
              <a:gdLst/>
              <a:ahLst/>
              <a:cxnLst/>
              <a:rect r="r" b="b" t="t" l="l"/>
              <a:pathLst>
                <a:path h="1077612" w="16511603">
                  <a:moveTo>
                    <a:pt x="0" y="0"/>
                  </a:moveTo>
                  <a:lnTo>
                    <a:pt x="16511603" y="0"/>
                  </a:lnTo>
                  <a:lnTo>
                    <a:pt x="16511603" y="1077612"/>
                  </a:lnTo>
                  <a:lnTo>
                    <a:pt x="0" y="1077612"/>
                  </a:lnTo>
                  <a:close/>
                </a:path>
              </a:pathLst>
            </a:custGeom>
            <a:solidFill>
              <a:srgbClr val="000000">
                <a:alpha val="0"/>
              </a:srgbClr>
            </a:solidFill>
          </p:spPr>
        </p:sp>
        <p:sp>
          <p:nvSpPr>
            <p:cNvPr name="TextBox 4" id="4"/>
            <p:cNvSpPr txBox="true"/>
            <p:nvPr/>
          </p:nvSpPr>
          <p:spPr>
            <a:xfrm>
              <a:off x="0" y="-38100"/>
              <a:ext cx="16511603" cy="1115712"/>
            </a:xfrm>
            <a:prstGeom prst="rect">
              <a:avLst/>
            </a:prstGeom>
          </p:spPr>
          <p:txBody>
            <a:bodyPr anchor="t" rtlCol="false" tIns="0" lIns="0" bIns="0" rIns="0"/>
            <a:lstStyle/>
            <a:p>
              <a:pPr algn="ctr">
                <a:lnSpc>
                  <a:spcPts val="6139"/>
                </a:lnSpc>
              </a:pPr>
              <a:r>
                <a:rPr lang="en-US" sz="4919">
                  <a:solidFill>
                    <a:srgbClr val="FFFFFF"/>
                  </a:solidFill>
                  <a:latin typeface="Mokoto"/>
                  <a:ea typeface="Mokoto"/>
                  <a:cs typeface="Mokoto"/>
                  <a:sym typeface="Mokoto"/>
                </a:rPr>
                <a:t>THANKYOU!</a:t>
              </a:r>
            </a:p>
          </p:txBody>
        </p:sp>
      </p:grpSp>
      <p:grpSp>
        <p:nvGrpSpPr>
          <p:cNvPr name="Group 5" id="5"/>
          <p:cNvGrpSpPr/>
          <p:nvPr/>
        </p:nvGrpSpPr>
        <p:grpSpPr>
          <a:xfrm rot="1392916">
            <a:off x="3971069" y="7860926"/>
            <a:ext cx="1158145" cy="1295876"/>
            <a:chOff x="0" y="0"/>
            <a:chExt cx="1544193" cy="1727835"/>
          </a:xfrm>
        </p:grpSpPr>
        <p:sp>
          <p:nvSpPr>
            <p:cNvPr name="Freeform 6" id="6"/>
            <p:cNvSpPr/>
            <p:nvPr/>
          </p:nvSpPr>
          <p:spPr>
            <a:xfrm flipH="false" flipV="false" rot="0">
              <a:off x="0" y="0"/>
              <a:ext cx="1544193" cy="1727835"/>
            </a:xfrm>
            <a:custGeom>
              <a:avLst/>
              <a:gdLst/>
              <a:ahLst/>
              <a:cxnLst/>
              <a:rect r="r" b="b" t="t" l="l"/>
              <a:pathLst>
                <a:path h="1727835" w="1544193">
                  <a:moveTo>
                    <a:pt x="0" y="0"/>
                  </a:moveTo>
                  <a:lnTo>
                    <a:pt x="1544193" y="0"/>
                  </a:lnTo>
                  <a:lnTo>
                    <a:pt x="1544193" y="1727835"/>
                  </a:lnTo>
                  <a:lnTo>
                    <a:pt x="0" y="1727835"/>
                  </a:lnTo>
                  <a:lnTo>
                    <a:pt x="0" y="0"/>
                  </a:lnTo>
                  <a:close/>
                </a:path>
              </a:pathLst>
            </a:custGeom>
            <a:blipFill>
              <a:blip r:embed="rId2"/>
              <a:stretch>
                <a:fillRect l="0" t="-202" r="0" b="-202"/>
              </a:stretch>
            </a:blipFill>
          </p:spPr>
        </p:sp>
      </p:grpSp>
      <p:grpSp>
        <p:nvGrpSpPr>
          <p:cNvPr name="Group 7" id="7"/>
          <p:cNvGrpSpPr/>
          <p:nvPr/>
        </p:nvGrpSpPr>
        <p:grpSpPr>
          <a:xfrm rot="-1600701">
            <a:off x="13054840" y="3934334"/>
            <a:ext cx="1207484" cy="1277779"/>
            <a:chOff x="0" y="0"/>
            <a:chExt cx="1609979" cy="1703705"/>
          </a:xfrm>
        </p:grpSpPr>
        <p:sp>
          <p:nvSpPr>
            <p:cNvPr name="Freeform 8" id="8"/>
            <p:cNvSpPr/>
            <p:nvPr/>
          </p:nvSpPr>
          <p:spPr>
            <a:xfrm flipH="false" flipV="false" rot="0">
              <a:off x="0" y="0"/>
              <a:ext cx="1609979" cy="1703705"/>
            </a:xfrm>
            <a:custGeom>
              <a:avLst/>
              <a:gdLst/>
              <a:ahLst/>
              <a:cxnLst/>
              <a:rect r="r" b="b" t="t" l="l"/>
              <a:pathLst>
                <a:path h="1703705" w="1609979">
                  <a:moveTo>
                    <a:pt x="0" y="0"/>
                  </a:moveTo>
                  <a:lnTo>
                    <a:pt x="1609979" y="0"/>
                  </a:lnTo>
                  <a:lnTo>
                    <a:pt x="1609979" y="1703705"/>
                  </a:lnTo>
                  <a:lnTo>
                    <a:pt x="0" y="1703705"/>
                  </a:lnTo>
                  <a:lnTo>
                    <a:pt x="0" y="0"/>
                  </a:lnTo>
                  <a:close/>
                </a:path>
              </a:pathLst>
            </a:custGeom>
            <a:blipFill>
              <a:blip r:embed="rId3"/>
              <a:stretch>
                <a:fillRect l="-169" t="0" r="-169" b="0"/>
              </a:stretch>
            </a:blipFill>
          </p:spPr>
        </p:sp>
      </p:grpSp>
      <p:grpSp>
        <p:nvGrpSpPr>
          <p:cNvPr name="Group 9" id="9"/>
          <p:cNvGrpSpPr/>
          <p:nvPr/>
        </p:nvGrpSpPr>
        <p:grpSpPr>
          <a:xfrm rot="1558470">
            <a:off x="11497283" y="8097574"/>
            <a:ext cx="1129284" cy="1199769"/>
            <a:chOff x="0" y="0"/>
            <a:chExt cx="1505712" cy="1599692"/>
          </a:xfrm>
        </p:grpSpPr>
        <p:sp>
          <p:nvSpPr>
            <p:cNvPr name="Freeform 10" id="10"/>
            <p:cNvSpPr/>
            <p:nvPr/>
          </p:nvSpPr>
          <p:spPr>
            <a:xfrm flipH="false" flipV="false" rot="0">
              <a:off x="0" y="0"/>
              <a:ext cx="1505712" cy="1599692"/>
            </a:xfrm>
            <a:custGeom>
              <a:avLst/>
              <a:gdLst/>
              <a:ahLst/>
              <a:cxnLst/>
              <a:rect r="r" b="b" t="t" l="l"/>
              <a:pathLst>
                <a:path h="1599692" w="1505712">
                  <a:moveTo>
                    <a:pt x="0" y="0"/>
                  </a:moveTo>
                  <a:lnTo>
                    <a:pt x="1505712" y="0"/>
                  </a:lnTo>
                  <a:lnTo>
                    <a:pt x="1505712" y="1599692"/>
                  </a:lnTo>
                  <a:lnTo>
                    <a:pt x="0" y="1599692"/>
                  </a:lnTo>
                  <a:lnTo>
                    <a:pt x="0" y="0"/>
                  </a:lnTo>
                  <a:close/>
                </a:path>
              </a:pathLst>
            </a:custGeom>
            <a:blipFill>
              <a:blip r:embed="rId4"/>
              <a:stretch>
                <a:fillRect l="0" t="-89" r="0" b="-89"/>
              </a:stretch>
            </a:blipFill>
          </p:spPr>
        </p:sp>
      </p:grpSp>
      <p:grpSp>
        <p:nvGrpSpPr>
          <p:cNvPr name="Group 11" id="11"/>
          <p:cNvGrpSpPr/>
          <p:nvPr/>
        </p:nvGrpSpPr>
        <p:grpSpPr>
          <a:xfrm rot="0">
            <a:off x="2752511" y="3731280"/>
            <a:ext cx="1010037" cy="1035905"/>
            <a:chOff x="0" y="0"/>
            <a:chExt cx="1482725" cy="1520698"/>
          </a:xfrm>
        </p:grpSpPr>
        <p:sp>
          <p:nvSpPr>
            <p:cNvPr name="Freeform 12" id="12"/>
            <p:cNvSpPr/>
            <p:nvPr/>
          </p:nvSpPr>
          <p:spPr>
            <a:xfrm flipH="false" flipV="false" rot="0">
              <a:off x="0" y="0"/>
              <a:ext cx="1482725" cy="1520698"/>
            </a:xfrm>
            <a:custGeom>
              <a:avLst/>
              <a:gdLst/>
              <a:ahLst/>
              <a:cxnLst/>
              <a:rect r="r" b="b" t="t" l="l"/>
              <a:pathLst>
                <a:path h="1520698" w="1482725">
                  <a:moveTo>
                    <a:pt x="0" y="0"/>
                  </a:moveTo>
                  <a:lnTo>
                    <a:pt x="1482725" y="0"/>
                  </a:lnTo>
                  <a:lnTo>
                    <a:pt x="1482725" y="1520698"/>
                  </a:lnTo>
                  <a:lnTo>
                    <a:pt x="0" y="1520698"/>
                  </a:lnTo>
                  <a:lnTo>
                    <a:pt x="0" y="0"/>
                  </a:lnTo>
                  <a:close/>
                </a:path>
              </a:pathLst>
            </a:custGeom>
            <a:blipFill>
              <a:blip r:embed="rId5"/>
              <a:stretch>
                <a:fillRect l="0" t="-21" r="0" b="-21"/>
              </a:stretch>
            </a:blipFill>
          </p:spPr>
        </p:sp>
      </p:grpSp>
      <p:grpSp>
        <p:nvGrpSpPr>
          <p:cNvPr name="Group 13" id="13"/>
          <p:cNvGrpSpPr/>
          <p:nvPr/>
        </p:nvGrpSpPr>
        <p:grpSpPr>
          <a:xfrm rot="-941928">
            <a:off x="5866567" y="612673"/>
            <a:ext cx="835533" cy="1602105"/>
            <a:chOff x="0" y="0"/>
            <a:chExt cx="1114044" cy="2136140"/>
          </a:xfrm>
        </p:grpSpPr>
        <p:sp>
          <p:nvSpPr>
            <p:cNvPr name="Freeform 14" id="14"/>
            <p:cNvSpPr/>
            <p:nvPr/>
          </p:nvSpPr>
          <p:spPr>
            <a:xfrm flipH="false" flipV="false" rot="0">
              <a:off x="0" y="0"/>
              <a:ext cx="1114044" cy="2136140"/>
            </a:xfrm>
            <a:custGeom>
              <a:avLst/>
              <a:gdLst/>
              <a:ahLst/>
              <a:cxnLst/>
              <a:rect r="r" b="b" t="t" l="l"/>
              <a:pathLst>
                <a:path h="2136140" w="1114044">
                  <a:moveTo>
                    <a:pt x="0" y="0"/>
                  </a:moveTo>
                  <a:lnTo>
                    <a:pt x="1114044" y="0"/>
                  </a:lnTo>
                  <a:lnTo>
                    <a:pt x="1114044" y="2136140"/>
                  </a:lnTo>
                  <a:lnTo>
                    <a:pt x="0" y="2136140"/>
                  </a:lnTo>
                  <a:lnTo>
                    <a:pt x="0" y="0"/>
                  </a:lnTo>
                  <a:close/>
                </a:path>
              </a:pathLst>
            </a:custGeom>
            <a:blipFill>
              <a:blip r:embed="rId6"/>
              <a:stretch>
                <a:fillRect l="-263" t="0" r="-263" b="0"/>
              </a:stretch>
            </a:blipFill>
          </p:spPr>
        </p:sp>
      </p:grpSp>
      <p:grpSp>
        <p:nvGrpSpPr>
          <p:cNvPr name="Group 15" id="15"/>
          <p:cNvGrpSpPr/>
          <p:nvPr/>
        </p:nvGrpSpPr>
        <p:grpSpPr>
          <a:xfrm rot="0">
            <a:off x="421252" y="6476763"/>
            <a:ext cx="989076" cy="931545"/>
            <a:chOff x="0" y="0"/>
            <a:chExt cx="1318768" cy="1242060"/>
          </a:xfrm>
        </p:grpSpPr>
        <p:sp>
          <p:nvSpPr>
            <p:cNvPr name="Freeform 16" id="16"/>
            <p:cNvSpPr/>
            <p:nvPr/>
          </p:nvSpPr>
          <p:spPr>
            <a:xfrm flipH="false" flipV="false" rot="0">
              <a:off x="0" y="0"/>
              <a:ext cx="1318768" cy="1242060"/>
            </a:xfrm>
            <a:custGeom>
              <a:avLst/>
              <a:gdLst/>
              <a:ahLst/>
              <a:cxnLst/>
              <a:rect r="r" b="b" t="t" l="l"/>
              <a:pathLst>
                <a:path h="1242060" w="1318768">
                  <a:moveTo>
                    <a:pt x="0" y="0"/>
                  </a:moveTo>
                  <a:lnTo>
                    <a:pt x="1318768" y="0"/>
                  </a:lnTo>
                  <a:lnTo>
                    <a:pt x="1318768" y="1242060"/>
                  </a:lnTo>
                  <a:lnTo>
                    <a:pt x="0" y="1242060"/>
                  </a:lnTo>
                  <a:lnTo>
                    <a:pt x="0" y="0"/>
                  </a:lnTo>
                  <a:close/>
                </a:path>
              </a:pathLst>
            </a:custGeom>
            <a:blipFill>
              <a:blip r:embed="rId7"/>
              <a:stretch>
                <a:fillRect l="-58" t="0" r="-58" b="0"/>
              </a:stretch>
            </a:blipFill>
          </p:spPr>
        </p:sp>
      </p:grpSp>
      <p:grpSp>
        <p:nvGrpSpPr>
          <p:cNvPr name="Group 17" id="17"/>
          <p:cNvGrpSpPr/>
          <p:nvPr/>
        </p:nvGrpSpPr>
        <p:grpSpPr>
          <a:xfrm rot="0">
            <a:off x="16728581" y="4753012"/>
            <a:ext cx="1061466" cy="1261110"/>
            <a:chOff x="0" y="0"/>
            <a:chExt cx="1415288" cy="1681480"/>
          </a:xfrm>
        </p:grpSpPr>
        <p:sp>
          <p:nvSpPr>
            <p:cNvPr name="Freeform 18" id="18"/>
            <p:cNvSpPr/>
            <p:nvPr/>
          </p:nvSpPr>
          <p:spPr>
            <a:xfrm flipH="false" flipV="false" rot="0">
              <a:off x="0" y="0"/>
              <a:ext cx="1415288" cy="1681480"/>
            </a:xfrm>
            <a:custGeom>
              <a:avLst/>
              <a:gdLst/>
              <a:ahLst/>
              <a:cxnLst/>
              <a:rect r="r" b="b" t="t" l="l"/>
              <a:pathLst>
                <a:path h="1681480" w="1415288">
                  <a:moveTo>
                    <a:pt x="0" y="0"/>
                  </a:moveTo>
                  <a:lnTo>
                    <a:pt x="1415288" y="0"/>
                  </a:lnTo>
                  <a:lnTo>
                    <a:pt x="1415288" y="1681480"/>
                  </a:lnTo>
                  <a:lnTo>
                    <a:pt x="0" y="1681480"/>
                  </a:lnTo>
                  <a:lnTo>
                    <a:pt x="0" y="0"/>
                  </a:lnTo>
                  <a:close/>
                </a:path>
              </a:pathLst>
            </a:custGeom>
            <a:blipFill>
              <a:blip r:embed="rId8"/>
              <a:stretch>
                <a:fillRect l="-24" t="0" r="-24" b="0"/>
              </a:stretch>
            </a:blipFill>
          </p:spPr>
        </p:sp>
      </p:grpSp>
      <p:grpSp>
        <p:nvGrpSpPr>
          <p:cNvPr name="Group 19" id="19"/>
          <p:cNvGrpSpPr/>
          <p:nvPr/>
        </p:nvGrpSpPr>
        <p:grpSpPr>
          <a:xfrm rot="0">
            <a:off x="14059411" y="610648"/>
            <a:ext cx="850963" cy="836105"/>
            <a:chOff x="0" y="0"/>
            <a:chExt cx="1134618" cy="1114806"/>
          </a:xfrm>
        </p:grpSpPr>
        <p:sp>
          <p:nvSpPr>
            <p:cNvPr name="Freeform 20" id="20"/>
            <p:cNvSpPr/>
            <p:nvPr/>
          </p:nvSpPr>
          <p:spPr>
            <a:xfrm flipH="false" flipV="false" rot="0">
              <a:off x="0" y="0"/>
              <a:ext cx="1134618" cy="1114806"/>
            </a:xfrm>
            <a:custGeom>
              <a:avLst/>
              <a:gdLst/>
              <a:ahLst/>
              <a:cxnLst/>
              <a:rect r="r" b="b" t="t" l="l"/>
              <a:pathLst>
                <a:path h="1114806" w="1134618">
                  <a:moveTo>
                    <a:pt x="0" y="0"/>
                  </a:moveTo>
                  <a:lnTo>
                    <a:pt x="1134618" y="0"/>
                  </a:lnTo>
                  <a:lnTo>
                    <a:pt x="1134618" y="1114806"/>
                  </a:lnTo>
                  <a:lnTo>
                    <a:pt x="0" y="1114806"/>
                  </a:lnTo>
                  <a:lnTo>
                    <a:pt x="0" y="0"/>
                  </a:lnTo>
                  <a:close/>
                </a:path>
              </a:pathLst>
            </a:custGeom>
            <a:blipFill>
              <a:blip r:embed="rId9"/>
              <a:stretch>
                <a:fillRect l="0" t="-47" r="0" b="-47"/>
              </a:stretch>
            </a:blipFill>
          </p:spPr>
        </p:sp>
      </p:grpSp>
      <p:grpSp>
        <p:nvGrpSpPr>
          <p:cNvPr name="Group 21" id="21"/>
          <p:cNvGrpSpPr/>
          <p:nvPr/>
        </p:nvGrpSpPr>
        <p:grpSpPr>
          <a:xfrm rot="0">
            <a:off x="2945944" y="4646644"/>
            <a:ext cx="11964430" cy="1980089"/>
            <a:chOff x="0" y="0"/>
            <a:chExt cx="15952573" cy="2640118"/>
          </a:xfrm>
        </p:grpSpPr>
        <p:sp>
          <p:nvSpPr>
            <p:cNvPr name="Freeform 22" id="22"/>
            <p:cNvSpPr/>
            <p:nvPr/>
          </p:nvSpPr>
          <p:spPr>
            <a:xfrm flipH="false" flipV="false" rot="0">
              <a:off x="0" y="0"/>
              <a:ext cx="15952574" cy="2640118"/>
            </a:xfrm>
            <a:custGeom>
              <a:avLst/>
              <a:gdLst/>
              <a:ahLst/>
              <a:cxnLst/>
              <a:rect r="r" b="b" t="t" l="l"/>
              <a:pathLst>
                <a:path h="2640118" w="15952574">
                  <a:moveTo>
                    <a:pt x="0" y="0"/>
                  </a:moveTo>
                  <a:lnTo>
                    <a:pt x="15952574" y="0"/>
                  </a:lnTo>
                  <a:lnTo>
                    <a:pt x="15952574" y="2640118"/>
                  </a:lnTo>
                  <a:lnTo>
                    <a:pt x="0" y="2640118"/>
                  </a:lnTo>
                  <a:close/>
                </a:path>
              </a:pathLst>
            </a:custGeom>
            <a:solidFill>
              <a:srgbClr val="000000">
                <a:alpha val="0"/>
              </a:srgbClr>
            </a:solidFill>
          </p:spPr>
        </p:sp>
        <p:sp>
          <p:nvSpPr>
            <p:cNvPr name="TextBox 23" id="23"/>
            <p:cNvSpPr txBox="true"/>
            <p:nvPr/>
          </p:nvSpPr>
          <p:spPr>
            <a:xfrm>
              <a:off x="0" y="-47625"/>
              <a:ext cx="15952573" cy="2687743"/>
            </a:xfrm>
            <a:prstGeom prst="rect">
              <a:avLst/>
            </a:prstGeom>
          </p:spPr>
          <p:txBody>
            <a:bodyPr anchor="t" rtlCol="false" tIns="0" lIns="0" bIns="0" rIns="0"/>
            <a:lstStyle/>
            <a:p>
              <a:pPr algn="ctr">
                <a:lnSpc>
                  <a:spcPts val="3078"/>
                </a:lnSpc>
              </a:pPr>
              <a:r>
                <a:rPr lang="en-US" sz="2199">
                  <a:solidFill>
                    <a:srgbClr val="FFFFFF"/>
                  </a:solidFill>
                  <a:latin typeface="Mokoto"/>
                  <a:ea typeface="Mokoto"/>
                  <a:cs typeface="Mokoto"/>
                  <a:sym typeface="Mokoto"/>
                </a:rPr>
                <a:t>Submitted By:</a:t>
              </a:r>
            </a:p>
            <a:p>
              <a:pPr algn="ctr">
                <a:lnSpc>
                  <a:spcPts val="3078"/>
                </a:lnSpc>
              </a:pPr>
              <a:r>
                <a:rPr lang="en-US" sz="2199">
                  <a:solidFill>
                    <a:srgbClr val="FFFFFF"/>
                  </a:solidFill>
                  <a:latin typeface="Mokoto"/>
                  <a:ea typeface="Mokoto"/>
                  <a:cs typeface="Mokoto"/>
                  <a:sym typeface="Mokoto"/>
                </a:rPr>
                <a:t>Maham tahir (dt-001)</a:t>
              </a:r>
            </a:p>
            <a:p>
              <a:pPr algn="ctr">
                <a:lnSpc>
                  <a:spcPts val="3078"/>
                </a:lnSpc>
              </a:pPr>
              <a:r>
                <a:rPr lang="en-US" sz="2199">
                  <a:solidFill>
                    <a:srgbClr val="FFFFFF"/>
                  </a:solidFill>
                  <a:latin typeface="Mokoto"/>
                  <a:ea typeface="Mokoto"/>
                  <a:cs typeface="Mokoto"/>
                  <a:sym typeface="Mokoto"/>
                </a:rPr>
                <a:t>afifa siddiqui (dt-003)</a:t>
              </a:r>
            </a:p>
            <a:p>
              <a:pPr algn="ctr">
                <a:lnSpc>
                  <a:spcPts val="3078"/>
                </a:lnSpc>
              </a:pPr>
              <a:r>
                <a:rPr lang="en-US" sz="2199">
                  <a:solidFill>
                    <a:srgbClr val="FFFFFF"/>
                  </a:solidFill>
                  <a:latin typeface="Mokoto"/>
                  <a:ea typeface="Mokoto"/>
                  <a:cs typeface="Mokoto"/>
                  <a:sym typeface="Mokoto"/>
                </a:rPr>
                <a:t>ashna shaikh (dt-019)</a:t>
              </a:r>
            </a:p>
            <a:p>
              <a:pPr algn="ctr">
                <a:lnSpc>
                  <a:spcPts val="3078"/>
                </a:lnSpc>
              </a:pPr>
              <a:r>
                <a:rPr lang="en-US" sz="2199">
                  <a:solidFill>
                    <a:srgbClr val="FFFFFF"/>
                  </a:solidFill>
                  <a:latin typeface="Mokoto"/>
                  <a:ea typeface="Mokoto"/>
                  <a:cs typeface="Mokoto"/>
                  <a:sym typeface="Mokoto"/>
                </a:rPr>
                <a:t>sabrina shahzad (dt-026)</a:t>
              </a:r>
            </a:p>
          </p:txBody>
        </p:sp>
      </p:grpSp>
      <p:grpSp>
        <p:nvGrpSpPr>
          <p:cNvPr name="Group 24" id="24"/>
          <p:cNvGrpSpPr/>
          <p:nvPr/>
        </p:nvGrpSpPr>
        <p:grpSpPr>
          <a:xfrm rot="0">
            <a:off x="15692011" y="7910872"/>
            <a:ext cx="2595989" cy="2355866"/>
            <a:chOff x="0" y="0"/>
            <a:chExt cx="4650359" cy="4220210"/>
          </a:xfrm>
        </p:grpSpPr>
        <p:sp>
          <p:nvSpPr>
            <p:cNvPr name="Freeform 25" id="25"/>
            <p:cNvSpPr/>
            <p:nvPr/>
          </p:nvSpPr>
          <p:spPr>
            <a:xfrm flipH="false" flipV="false" rot="0">
              <a:off x="0" y="0"/>
              <a:ext cx="4650359" cy="4220210"/>
            </a:xfrm>
            <a:custGeom>
              <a:avLst/>
              <a:gdLst/>
              <a:ahLst/>
              <a:cxnLst/>
              <a:rect r="r" b="b" t="t" l="l"/>
              <a:pathLst>
                <a:path h="4220210" w="4650359">
                  <a:moveTo>
                    <a:pt x="0" y="0"/>
                  </a:moveTo>
                  <a:lnTo>
                    <a:pt x="4650359" y="0"/>
                  </a:lnTo>
                  <a:lnTo>
                    <a:pt x="4650359" y="4220210"/>
                  </a:lnTo>
                  <a:lnTo>
                    <a:pt x="0" y="4220210"/>
                  </a:lnTo>
                  <a:lnTo>
                    <a:pt x="0" y="0"/>
                  </a:lnTo>
                  <a:close/>
                </a:path>
              </a:pathLst>
            </a:custGeom>
            <a:blipFill>
              <a:blip r:embed="rId10"/>
              <a:stretch>
                <a:fillRect l="0" t="-43" r="0" b="-43"/>
              </a:stretch>
            </a:blipFill>
          </p:spPr>
        </p:sp>
      </p:grpSp>
      <p:grpSp>
        <p:nvGrpSpPr>
          <p:cNvPr name="Group 26" id="26"/>
          <p:cNvGrpSpPr/>
          <p:nvPr/>
        </p:nvGrpSpPr>
        <p:grpSpPr>
          <a:xfrm rot="122149">
            <a:off x="15556333" y="179953"/>
            <a:ext cx="2691227" cy="2324552"/>
            <a:chOff x="0" y="0"/>
            <a:chExt cx="5460365" cy="4716399"/>
          </a:xfrm>
        </p:grpSpPr>
        <p:sp>
          <p:nvSpPr>
            <p:cNvPr name="Freeform 27" id="27"/>
            <p:cNvSpPr/>
            <p:nvPr/>
          </p:nvSpPr>
          <p:spPr>
            <a:xfrm flipH="false" flipV="false" rot="0">
              <a:off x="0" y="0"/>
              <a:ext cx="5460365" cy="4716399"/>
            </a:xfrm>
            <a:custGeom>
              <a:avLst/>
              <a:gdLst/>
              <a:ahLst/>
              <a:cxnLst/>
              <a:rect r="r" b="b" t="t" l="l"/>
              <a:pathLst>
                <a:path h="4716399" w="5460365">
                  <a:moveTo>
                    <a:pt x="0" y="0"/>
                  </a:moveTo>
                  <a:lnTo>
                    <a:pt x="5460365" y="0"/>
                  </a:lnTo>
                  <a:lnTo>
                    <a:pt x="5460365" y="4716399"/>
                  </a:lnTo>
                  <a:lnTo>
                    <a:pt x="0" y="4716399"/>
                  </a:lnTo>
                  <a:lnTo>
                    <a:pt x="0" y="0"/>
                  </a:lnTo>
                  <a:close/>
                </a:path>
              </a:pathLst>
            </a:custGeom>
            <a:blipFill>
              <a:blip r:embed="rId11"/>
              <a:stretch>
                <a:fillRect l="-30" t="0" r="-30" b="0"/>
              </a:stretch>
            </a:blipFill>
          </p:spPr>
        </p:sp>
      </p:grpSp>
      <p:grpSp>
        <p:nvGrpSpPr>
          <p:cNvPr name="Group 28" id="28"/>
          <p:cNvGrpSpPr/>
          <p:nvPr/>
        </p:nvGrpSpPr>
        <p:grpSpPr>
          <a:xfrm rot="0">
            <a:off x="68145" y="7408308"/>
            <a:ext cx="2684366" cy="2878692"/>
            <a:chOff x="0" y="0"/>
            <a:chExt cx="5868289" cy="6293104"/>
          </a:xfrm>
        </p:grpSpPr>
        <p:sp>
          <p:nvSpPr>
            <p:cNvPr name="Freeform 29" id="29"/>
            <p:cNvSpPr/>
            <p:nvPr/>
          </p:nvSpPr>
          <p:spPr>
            <a:xfrm flipH="false" flipV="false" rot="0">
              <a:off x="0" y="0"/>
              <a:ext cx="5868289" cy="6293104"/>
            </a:xfrm>
            <a:custGeom>
              <a:avLst/>
              <a:gdLst/>
              <a:ahLst/>
              <a:cxnLst/>
              <a:rect r="r" b="b" t="t" l="l"/>
              <a:pathLst>
                <a:path h="6293104" w="5868289">
                  <a:moveTo>
                    <a:pt x="0" y="0"/>
                  </a:moveTo>
                  <a:lnTo>
                    <a:pt x="5868289" y="0"/>
                  </a:lnTo>
                  <a:lnTo>
                    <a:pt x="5868289" y="6293104"/>
                  </a:lnTo>
                  <a:lnTo>
                    <a:pt x="0" y="6293104"/>
                  </a:lnTo>
                  <a:lnTo>
                    <a:pt x="0" y="0"/>
                  </a:lnTo>
                  <a:close/>
                </a:path>
              </a:pathLst>
            </a:custGeom>
            <a:blipFill>
              <a:blip r:embed="rId12"/>
              <a:stretch>
                <a:fillRect l="0" t="-125" r="0" b="-125"/>
              </a:stretch>
            </a:blipFill>
          </p:spPr>
        </p:sp>
      </p:grpSp>
      <p:grpSp>
        <p:nvGrpSpPr>
          <p:cNvPr name="Group 30" id="30"/>
          <p:cNvGrpSpPr/>
          <p:nvPr/>
        </p:nvGrpSpPr>
        <p:grpSpPr>
          <a:xfrm rot="0">
            <a:off x="156518" y="104474"/>
            <a:ext cx="2417033" cy="2193462"/>
            <a:chOff x="0" y="0"/>
            <a:chExt cx="4650359" cy="4220210"/>
          </a:xfrm>
        </p:grpSpPr>
        <p:sp>
          <p:nvSpPr>
            <p:cNvPr name="Freeform 31" id="31"/>
            <p:cNvSpPr/>
            <p:nvPr/>
          </p:nvSpPr>
          <p:spPr>
            <a:xfrm flipH="false" flipV="false" rot="0">
              <a:off x="0" y="0"/>
              <a:ext cx="4650359" cy="4220210"/>
            </a:xfrm>
            <a:custGeom>
              <a:avLst/>
              <a:gdLst/>
              <a:ahLst/>
              <a:cxnLst/>
              <a:rect r="r" b="b" t="t" l="l"/>
              <a:pathLst>
                <a:path h="4220210" w="4650359">
                  <a:moveTo>
                    <a:pt x="0" y="0"/>
                  </a:moveTo>
                  <a:lnTo>
                    <a:pt x="4650359" y="0"/>
                  </a:lnTo>
                  <a:lnTo>
                    <a:pt x="4650359" y="4220210"/>
                  </a:lnTo>
                  <a:lnTo>
                    <a:pt x="0" y="4220210"/>
                  </a:lnTo>
                  <a:lnTo>
                    <a:pt x="0" y="0"/>
                  </a:lnTo>
                  <a:close/>
                </a:path>
              </a:pathLst>
            </a:custGeom>
            <a:blipFill>
              <a:blip r:embed="rId10"/>
              <a:stretch>
                <a:fillRect l="0" t="-43" r="0" b="-43"/>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DAGmfmxQvrk</dc:identifier>
  <dcterms:modified xsi:type="dcterms:W3CDTF">2011-08-01T06:04:30Z</dcterms:modified>
  <cp:revision>1</cp:revision>
  <dc:title>DAA (1).pptx</dc:title>
</cp:coreProperties>
</file>